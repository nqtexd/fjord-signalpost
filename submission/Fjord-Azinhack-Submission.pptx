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4ff8c3f1734754" /><Relationship Type="http://schemas.openxmlformats.org/officeDocument/2006/relationships/extended-properties" Target="/docProps/app.xml" Id="R0cb345b5ec5d4a18" /><Relationship Type="http://schemas.openxmlformats.org/officeDocument/2006/relationships/officeDocument" Target="/ppt/presentation.xml" Id="Rbcb59e27b70d4800" /></Relationships>
</file>

<file path=ppt/presentation.xml><?xml version="1.0" encoding="utf-8"?>
<p:presentation xmlns:p="http://schemas.openxmlformats.org/presentationml/2006/main">
  <p:sldMasterIdLst>
    <p:sldMasterId xmlns:r="http://schemas.openxmlformats.org/officeDocument/2006/relationships" id="2147483648" r:id="Rff921cc4d3a54709"/>
  </p:sldMasterIdLst>
  <p:notesMasterIdLst>
    <p:notesMasterId xmlns:r="http://schemas.openxmlformats.org/officeDocument/2006/relationships" r:id="R47a918862b204829"/>
  </p:notesMasterIdLst>
  <p:sldIdLst>
    <p:sldId xmlns:r="http://schemas.openxmlformats.org/officeDocument/2006/relationships" id="256" r:id="Ra698587683b049f8"/>
    <p:sldId xmlns:r="http://schemas.openxmlformats.org/officeDocument/2006/relationships" id="257" r:id="R997659b17caa4c1b"/>
    <p:sldId xmlns:r="http://schemas.openxmlformats.org/officeDocument/2006/relationships" id="258" r:id="R43364f57f591422c"/>
    <p:sldId xmlns:r="http://schemas.openxmlformats.org/officeDocument/2006/relationships" id="259" r:id="R891c3e3caaa6440b"/>
    <p:sldId xmlns:r="http://schemas.openxmlformats.org/officeDocument/2006/relationships" id="260" r:id="R7387931423314540"/>
    <p:sldId xmlns:r="http://schemas.openxmlformats.org/officeDocument/2006/relationships" id="261" r:id="R1ff597e3293a4a1e"/>
    <p:sldId xmlns:r="http://schemas.openxmlformats.org/officeDocument/2006/relationships" id="262" r:id="R368bd013277c4810"/>
    <p:sldId xmlns:r="http://schemas.openxmlformats.org/officeDocument/2006/relationships" id="263" r:id="Rbc6e8d26795547bd"/>
    <p:sldId xmlns:r="http://schemas.openxmlformats.org/officeDocument/2006/relationships" id="264" r:id="R084524452aba483f"/>
    <p:sldId xmlns:r="http://schemas.openxmlformats.org/officeDocument/2006/relationships" id="265" r:id="R32578b23362643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eb8e394cf14c88" /><Relationship Type="http://schemas.openxmlformats.org/officeDocument/2006/relationships/slideMaster" Target="/ppt/slideMasters/slideMaster1.xml" Id="Rff921cc4d3a54709" /><Relationship Type="http://schemas.openxmlformats.org/officeDocument/2006/relationships/notesMaster" Target="/ppt/notesMasters/notesMaster1.xml" Id="R47a918862b204829" /><Relationship Type="http://schemas.openxmlformats.org/officeDocument/2006/relationships/presProps" Target="/ppt/presProps.xml" Id="R8891c922b5724436" /><Relationship Type="http://schemas.openxmlformats.org/officeDocument/2006/relationships/tableStyles" Target="/ppt/tableStyles.xml" Id="R55db0a4dba5b43aa" /><Relationship Type="http://schemas.openxmlformats.org/officeDocument/2006/relationships/slide" Target="/ppt/slides/slide1.xml" Id="Ra698587683b049f8" /><Relationship Type="http://schemas.openxmlformats.org/officeDocument/2006/relationships/slide" Target="/ppt/slides/slide2.xml" Id="R997659b17caa4c1b" /><Relationship Type="http://schemas.openxmlformats.org/officeDocument/2006/relationships/slide" Target="/ppt/slides/slide3.xml" Id="R43364f57f591422c" /><Relationship Type="http://schemas.openxmlformats.org/officeDocument/2006/relationships/slide" Target="/ppt/slides/slide4.xml" Id="R891c3e3caaa6440b" /><Relationship Type="http://schemas.openxmlformats.org/officeDocument/2006/relationships/slide" Target="/ppt/slides/slide5.xml" Id="R7387931423314540" /><Relationship Type="http://schemas.openxmlformats.org/officeDocument/2006/relationships/slide" Target="/ppt/slides/slide6.xml" Id="R1ff597e3293a4a1e" /><Relationship Type="http://schemas.openxmlformats.org/officeDocument/2006/relationships/slide" Target="/ppt/slides/slide7.xml" Id="R368bd013277c4810" /><Relationship Type="http://schemas.openxmlformats.org/officeDocument/2006/relationships/slide" Target="/ppt/slides/slide8.xml" Id="Rbc6e8d26795547bd" /><Relationship Type="http://schemas.openxmlformats.org/officeDocument/2006/relationships/slide" Target="/ppt/slides/slide9.xml" Id="R084524452aba483f" /><Relationship Type="http://schemas.openxmlformats.org/officeDocument/2006/relationships/slide" Target="/ppt/slides/slide10.xml" Id="R32578b23362643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643c7e401c4f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c05a007e3b477a" /><Relationship Type="http://schemas.openxmlformats.org/officeDocument/2006/relationships/notesMaster" Target="/ppt/notesMasters/notesMaster1.xml" Id="R9e57604ebf8843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4bb2fdf5244e58" /><Relationship Type="http://schemas.openxmlformats.org/officeDocument/2006/relationships/notesMaster" Target="/ppt/notesMasters/notesMaster1.xml" Id="R1829eaaca0d44a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d125f580bb4874" /><Relationship Type="http://schemas.openxmlformats.org/officeDocument/2006/relationships/notesMaster" Target="/ppt/notesMasters/notesMaster1.xml" Id="R06f9c3f8875847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bd5939891a49ce" /><Relationship Type="http://schemas.openxmlformats.org/officeDocument/2006/relationships/notesMaster" Target="/ppt/notesMasters/notesMaster1.xml" Id="R0d56c2428fbd49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1f1d20569e47c5" /><Relationship Type="http://schemas.openxmlformats.org/officeDocument/2006/relationships/notesMaster" Target="/ppt/notesMasters/notesMaster1.xml" Id="R98be7262f3654c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8c4b260f934d80" /><Relationship Type="http://schemas.openxmlformats.org/officeDocument/2006/relationships/notesMaster" Target="/ppt/notesMasters/notesMaster1.xml" Id="R27865e517a8f4e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499fb930f14de3" /><Relationship Type="http://schemas.openxmlformats.org/officeDocument/2006/relationships/notesMaster" Target="/ppt/notesMasters/notesMaster1.xml" Id="R64b0d4a9143645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5bedaf9410437f" /><Relationship Type="http://schemas.openxmlformats.org/officeDocument/2006/relationships/notesMaster" Target="/ppt/notesMasters/notesMaster1.xml" Id="Rac6d7ecc776747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3a28e3df5c48f4" /><Relationship Type="http://schemas.openxmlformats.org/officeDocument/2006/relationships/notesMaster" Target="/ppt/notesMasters/notesMaster1.xml" Id="R0a19c781c63844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33c63d337f4bc9" /><Relationship Type="http://schemas.openxmlformats.org/officeDocument/2006/relationships/notesMaster" Target="/ppt/notesMasters/notesMaster1.xml" Id="Rb472b6d0fbd34d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Solo software prototype by Sanjay P, Chennai Institute of Technology, AI &amp; ML, graduation 2029. Existing MIT Fjord foundation developed for Signalpost is reused and extended with a new functional TinyFish discovery and evidence-review workflow. AI assistance was used for research, development, design, tests and presentation. No unaided authorship or contest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reports/smoke-100.json, the actual 16 October 2026 random local smoke sample. Legal name 100/100, available revenue in at least one observed period 76/100, registered employee value 17/100, registry website candidate 11/100. A candidate website is not proof of exact-company ownership. Missing registry employee values do not mean zero employees. This sample is not representative market research. Official source documentation: https://data.brreg.no/enhetsregisteret/api/dokumentasjon/en/index.html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Fjord application screenshot. The example is ELEKTRIKER GRUPPEN AS, organisation number 879899222, from the real recorded 100-company run. The interface is a fixed-snapshot viewer unless served by the local research service. The screenshot is product evidence, not an independent verification of all upstream facts. Source files: dist/app.js, dist/sample.json.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https://docs.tinyfish.ai/search-api/reference ; https://docs.tinyfish.ai/fetch-api/reference ; https://www.tinyfish.ai/terms ; https://www.wikidata.org/wiki/Wikidata:Licensing . Actual one-company local browser workflow: reports/tinyfish-live-ui.json, organisation 993101583. Three TinyFish requests total, nine direct source requests, approximately 42.7 seconds, no paid endpoints used. The two sourced external observations are the exact-number Wikidata mapping and the rendered identity excerpt. This is not an accuracy benchmark. Free Search/Fetch pricing was checked on 16 October; no Agent, Browser or Monitor usage, card or top-up is required by the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working UI for WIKIMEDIA NORGE, organisation number 993101583. TinyFish Search initially returned an unrelated name candidate; an exact P2333 identifier query found Q6985258. TinyFish Fetch then supplied the readable matching excerpt. The source-rights policy permits scoped CC0 entity facts. The company website and Norwegian Wikipedia page remain blocked from content publication under the current allowlist. “Blocked” here is the application publication/access policy state, not a claim that the company is illegitimate. Source: reports/tinyfish-live-ui.json and dist/web-sample.json.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footprint.py, core.py, network.py, agent.py and server.py. TinyFish Search/Fetch are the functional sponsor integration. We do not claim a custom trained ML model, a particular underlying TinyFish model, autonomous browsing actions, independent sentiment, or reasoning accuracy. Wikimedia structured entity data is CC0. Identity matching and financial extraction are deterministic. Public role snapshots discard birth dates and personal identifiers.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source inspector from the application. core.py changes() ignores timestamp-only changes, retains previous source IDs, and distinguishes value_changed, availability_changed, new_evidence and not_observed_in_refresh. Provider-derived evidence explicitly distinguishes an evidence-projection hash from the raw-origin HTML; the provider-response hash is recorded separately. The official registry inspector shown here uses received-byte and saved-snapshot hashes. Tests cover a source disappearing during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reports/smoke-100.json and test_core.py, test_boundaries.py, test_snapshot.py, test_footprint.py. The 100-company run predates the TinyFish extension and frozen-input adapter and is not presented as a 100-company sponsor benchmark. The later live sponsor UI example is separate at reports/tinyfish-live-ui.json. Browser QA checked desktop/mobile, claim inspection, imports/exports, actual sponsor request flow, cross-origin rejection, malformed input rejection and absence of a key in the page. No competition score, qualification, production reliability or independently measured exact-company precision is claimed. Infrastructure/network costs excluded from API-charge figures.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Intended user and impact hypothesis, not evidence of adoption, customer interviews, commercial demand or time saved. Current prototype is software only and runs with the Python standard library. The browser snapshot viewer is buildless HTML/CSS/JavaScript. Live research runs through a loopback service with a server-side environment key and a twenty-run session limit. API calls are bounded and use only advertised free Search/Fetch endpoints. Screenshot is the actual responsive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Submission requirements checked at https://api.unstop.com/hackathons/azinhack-2026-university-school-of-automation-robotics-usar-guru-gobind-singh-indraprastha-university-ggsipu--1763832 . The proposed TinyFish integration is already functional in this screening prototype. The remaining tasks are explicitly future scope. The existing Fjord foundation is reused from the Signalpost entry, with new sponsor integration and source-review workflow developed afterward. Static preview is owner-private; judges should use the public repository and documented local server, supplying their own TinyFish key. No secret is embedded in this deck, app frontend or repository. AI-assisted development, design, research, tests and deck preparation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a32187ec2143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e72971873240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ea2936d3c640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a2f58960446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bea71abd234a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90e3576f9c4c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DD39CB-1653-466C-82C8-4314B11B32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13E8ED-A209-486B-A76C-ACE6B20FE3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9EC091-D7AE-4479-BEB0-1301F7F1D2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67F1D3-05A0-47AD-948D-6D5BDA7019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D1C38B-EF2C-474A-BFF7-F1F5162814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8B8641-3EB4-4E8F-9C16-C14A5F0881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B0A15A-C1DD-4334-9BAD-4C0446814D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2B44BB-0C5B-4EC4-A764-4B185D92867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E1E667-597F-4DE4-9EA0-5C7D37FEED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A843A4-04D4-4ECF-BD20-23F79FA4A6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09d50c1aed4b4f" /><Relationship Type="http://schemas.openxmlformats.org/officeDocument/2006/relationships/slideLayout" Target="/ppt/slideLayouts/slideLayout1.xml" Id="Ra22aab78c3e94d75" /><Relationship Type="http://schemas.openxmlformats.org/officeDocument/2006/relationships/slideLayout" Target="/ppt/slideLayouts/slideLayout2.xml" Id="Rc361695d72b847bb" /><Relationship Type="http://schemas.openxmlformats.org/officeDocument/2006/relationships/slideLayout" Target="/ppt/slideLayouts/slideLayout3.xml" Id="Re7d66f2e2b9b4885" /><Relationship Type="http://schemas.openxmlformats.org/officeDocument/2006/relationships/slideLayout" Target="/ppt/slideLayouts/slideLayout4.xml" Id="R4b26a0203fce4d19" /><Relationship Type="http://schemas.openxmlformats.org/officeDocument/2006/relationships/slideLayout" Target="/ppt/slideLayouts/slideLayout5.xml" Id="R94c581928898409e" /><Relationship Type="http://schemas.openxmlformats.org/officeDocument/2006/relationships/slideLayout" Target="/ppt/slideLayouts/slideLayout6.xml" Id="R00239b412f924b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2aab78c3e94d75"/>
    <p:sldLayoutId xmlns:r="http://schemas.openxmlformats.org/officeDocument/2006/relationships" id="2147483650" r:id="Rc361695d72b847bb"/>
    <p:sldLayoutId xmlns:r="http://schemas.openxmlformats.org/officeDocument/2006/relationships" id="2147483651" r:id="Re7d66f2e2b9b4885"/>
    <p:sldLayoutId xmlns:r="http://schemas.openxmlformats.org/officeDocument/2006/relationships" id="2147483652" r:id="R4b26a0203fce4d19"/>
    <p:sldLayoutId xmlns:r="http://schemas.openxmlformats.org/officeDocument/2006/relationships" id="2147483653" r:id="R94c581928898409e"/>
    <p:sldLayoutId xmlns:r="http://schemas.openxmlformats.org/officeDocument/2006/relationships" id="2147483654" r:id="R00239b412f924b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eb21c5883f4e6c" /><Relationship Type="http://schemas.openxmlformats.org/officeDocument/2006/relationships/notesSlide" Target="/ppt/notesSlides/notesSlide1.xml" Id="Rc2ad081e79a943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2667540f584a14" /><Relationship Type="http://schemas.openxmlformats.org/officeDocument/2006/relationships/chart" Target="/ppt/slides/charts/chart1.xml" Id="Rd4f8bb89f1234fbd" /><Relationship Type="http://schemas.openxmlformats.org/officeDocument/2006/relationships/notesSlide" Target="/ppt/notesSlides/notesSlide2.xml" Id="Re7816672d6574e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00f671853047a4" /><Relationship Type="http://schemas.openxmlformats.org/officeDocument/2006/relationships/image" Target="/ppt/media/image.png" Id="R62790f7e505a490f" /><Relationship Type="http://schemas.openxmlformats.org/officeDocument/2006/relationships/notesSlide" Target="/ppt/notesSlides/notesSlide3.xml" Id="Rb6c0422ae2964a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34e29e50484c94" /><Relationship Type="http://schemas.openxmlformats.org/officeDocument/2006/relationships/notesSlide" Target="/ppt/notesSlides/notesSlide4.xml" Id="R6c011bd13c90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e149b1ee4d4b4f" /><Relationship Type="http://schemas.openxmlformats.org/officeDocument/2006/relationships/image" Target="/ppt/media/image2.png" Id="R9679de4dcdbd4c76" /><Relationship Type="http://schemas.openxmlformats.org/officeDocument/2006/relationships/notesSlide" Target="/ppt/notesSlides/notesSlide5.xml" Id="R1e2b534fbdc84c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91d4e4eddd4f2f" /><Relationship Type="http://schemas.openxmlformats.org/officeDocument/2006/relationships/notesSlide" Target="/ppt/notesSlides/notesSlide6.xml" Id="R1f635befe7424e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db0bd21c35470d" /><Relationship Type="http://schemas.openxmlformats.org/officeDocument/2006/relationships/image" Target="/ppt/media/image3.png" Id="Rba9d0b4fa3414e68" /><Relationship Type="http://schemas.openxmlformats.org/officeDocument/2006/relationships/notesSlide" Target="/ppt/notesSlides/notesSlide7.xml" Id="Rf777450366ba42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dc0aad2cbb4028" /><Relationship Type="http://schemas.openxmlformats.org/officeDocument/2006/relationships/notesSlide" Target="/ppt/notesSlides/notesSlide8.xml" Id="Rec00b50f773744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fdb1c57dadc4768" /><Relationship Type="http://schemas.openxmlformats.org/officeDocument/2006/relationships/image" Target="/ppt/media/image4.png" Id="Re2eb9fb076854459" /><Relationship Type="http://schemas.openxmlformats.org/officeDocument/2006/relationships/notesSlide" Target="/ppt/notesSlides/notesSlide9.xml" Id="Re5d15b1e3f154c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b98ba2ccaf4dec" /><Relationship Type="http://schemas.openxmlformats.org/officeDocument/2006/relationships/notesSlide" Target="/ppt/notesSlides/notesSlide10.xml" Id="R1ff75bbf6ff847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Companies with a published value</c:v>
          </c:tx>
          <c:spPr>
            <a:solidFill xmlns:a="http://schemas.openxmlformats.org/drawingml/2006/main">
              <a:srgbClr val="0E766A"/>
            </a:solidFill>
          </c:spPr>
          <c:invertIfNegative val="0"/>
          <c:cat>
            <c:strRef>
              <c:f>'Chart Data'!$A$2:$A$5</c:f>
              <c:strCache>
                <c:ptCount val="4"/>
                <c:pt idx="0">
                  <c:v>Legal name</c:v>
                </c:pt>
                <c:pt idx="1">
                  <c:v>Filed revenue</c:v>
                </c:pt>
                <c:pt idx="2">
                  <c:v>Employees</c:v>
                </c:pt>
                <c:pt idx="3">
                  <c:v>Website candidate</c:v>
                </c:pt>
              </c:strCache>
            </c:strRef>
          </c:cat>
          <c:val>
            <c:numRef>
              <c:f>'Chart Data'!$B$2:$B$5</c:f>
              <c:numCache>
                <c:formatCode>General</c:formatCode>
                <c:ptCount val="4"/>
                <c:pt idx="0">
                  <c:v>100</c:v>
                </c:pt>
                <c:pt idx="1">
                  <c:v>76</c:v>
                </c:pt>
                <c:pt idx="2">
                  <c:v>17</c:v>
                </c:pt>
                <c:pt idx="3">
                  <c:v>11</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CE3E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B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1D8656C-EE37-4852-AA17-98920A36AE0D}"/>
              </a:ext>
            </a:extLst>
          </p:cNvPr>
          <p:cNvSpPr>
            <a:spLocks xmlns:a="http://schemas.openxmlformats.org/drawingml/2006/main" noGrp="1"/>
          </p:cNvSpPr>
          <p:nvPr/>
        </p:nvSpPr>
        <p:spPr>
          <a:xfrm xmlns:a="http://schemas.openxmlformats.org/drawingml/2006/main">
            <a:off x="609600" y="16954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100" b="1">
                <a:solidFill>
                  <a:srgbClr val="FFFFFF"/>
                </a:solidFill>
                <a:latin typeface="Arial"/>
                <a:ea typeface="Arial"/>
                <a:cs typeface="Arial"/>
              </a:defRPr>
            </a:defPPr>
          </a:lstStyle>
          <a:p xmlns:a="http://schemas.openxmlformats.org/drawingml/2006/main">
            <a:pPr>
              <a:defRPr sz="8100" b="1">
                <a:solidFill>
                  <a:srgbClr val="FFFFFF"/>
                </a:solidFill>
                <a:latin typeface="Arial"/>
                <a:ea typeface="Arial"/>
                <a:cs typeface="Arial"/>
              </a:defRPr>
            </a:pPr>
            <a:r>
              <a:rPr sz="8100" b="1">
                <a:solidFill>
                  <a:srgbClr val="FFFFFF"/>
                </a:solidFill>
                <a:latin typeface="Arial"/>
                <a:ea typeface="Arial"/>
                <a:cs typeface="Arial"/>
              </a:rPr>
              <a:t>Fjord</a:t>
            </a:r>
          </a:p>
        </p:txBody>
      </p:sp>
      <p:sp>
        <p:nvSpPr>
          <p:cNvPr id="2" name="">
            <a:extLst xmlns:a="http://schemas.openxmlformats.org/drawingml/2006/main">
              <a:ext uri="{FF2B5EF4-FFF2-40B4-BE49-F238E27FC236}">
                <a16:creationId xmlns:a16="http://schemas.microsoft.com/office/drawing/2014/main" id="{07F492EE-9C88-427F-A24E-1DBA1C177B3D}"/>
              </a:ext>
            </a:extLst>
          </p:cNvPr>
          <p:cNvSpPr>
            <a:spLocks xmlns:a="http://schemas.openxmlformats.org/drawingml/2006/main" noGrp="1"/>
          </p:cNvSpPr>
          <p:nvPr/>
        </p:nvSpPr>
        <p:spPr>
          <a:xfrm xmlns:a="http://schemas.openxmlformats.org/drawingml/2006/main">
            <a:off x="657225" y="32575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D4E8E3"/>
                </a:solidFill>
                <a:latin typeface="Arial"/>
                <a:ea typeface="Arial"/>
                <a:cs typeface="Arial"/>
              </a:defRPr>
            </a:defPPr>
          </a:lstStyle>
          <a:p xmlns:a="http://schemas.openxmlformats.org/drawingml/2006/main">
            <a:pPr>
              <a:defRPr sz="2925" b="0">
                <a:solidFill>
                  <a:srgbClr val="D4E8E3"/>
                </a:solidFill>
                <a:latin typeface="Arial"/>
                <a:ea typeface="Arial"/>
                <a:cs typeface="Arial"/>
              </a:defRPr>
            </a:pPr>
            <a:r>
              <a:rPr sz="2925" b="0">
                <a:solidFill>
                  <a:srgbClr val="D4E8E3"/>
                </a:solidFill>
                <a:latin typeface="Arial"/>
                <a:ea typeface="Arial"/>
                <a:cs typeface="Arial"/>
              </a:rPr>
              <a:t>Company research with inspectable evidence</a:t>
            </a:r>
          </a:p>
        </p:txBody>
      </p:sp>
      <p:sp>
        <p:nvSpPr>
          <p:cNvPr id="3" name="">
            <a:extLst xmlns:a="http://schemas.openxmlformats.org/drawingml/2006/main">
              <a:ext uri="{FF2B5EF4-FFF2-40B4-BE49-F238E27FC236}">
                <a16:creationId xmlns:a16="http://schemas.microsoft.com/office/drawing/2014/main" id="{47AD9E38-3CBB-4F24-9A2A-F6DA424CF388}"/>
              </a:ext>
            </a:extLst>
          </p:cNvPr>
          <p:cNvSpPr>
            <a:spLocks xmlns:a="http://schemas.openxmlformats.org/drawingml/2006/main" noGrp="1"/>
          </p:cNvSpPr>
          <p:nvPr/>
        </p:nvSpPr>
        <p:spPr>
          <a:xfrm xmlns:a="http://schemas.openxmlformats.org/drawingml/2006/main">
            <a:off x="657225" y="5238750"/>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1D2DA"/>
                </a:solidFill>
                <a:latin typeface="Arial"/>
                <a:ea typeface="Arial"/>
                <a:cs typeface="Arial"/>
              </a:defRPr>
            </a:defPPr>
          </a:lstStyle>
          <a:p xmlns:a="http://schemas.openxmlformats.org/drawingml/2006/main">
            <a:pPr>
              <a:defRPr sz="1725" b="0">
                <a:solidFill>
                  <a:srgbClr val="C1D2DA"/>
                </a:solidFill>
                <a:latin typeface="Arial"/>
                <a:ea typeface="Arial"/>
                <a:cs typeface="Arial"/>
              </a:defRPr>
            </a:pPr>
            <a:r>
              <a:rPr sz="1725" b="0">
                <a:solidFill>
                  <a:srgbClr val="C1D2DA"/>
                </a:solidFill>
                <a:latin typeface="Arial"/>
                <a:ea typeface="Arial"/>
                <a:cs typeface="Arial"/>
              </a:rPr>
              <a:t>Sanjay P</a:t>
            </a:r>
          </a:p>
          <a:p xmlns:a="http://schemas.openxmlformats.org/drawingml/2006/main">
            <a:pPr>
              <a:defRPr sz="1725" b="0">
                <a:solidFill>
                  <a:srgbClr val="C1D2DA"/>
                </a:solidFill>
                <a:latin typeface="Arial"/>
                <a:ea typeface="Arial"/>
                <a:cs typeface="Arial"/>
              </a:defRPr>
            </a:pPr>
            <a:r>
              <a:rPr sz="1725" b="0">
                <a:solidFill>
                  <a:srgbClr val="C1D2DA"/>
                </a:solidFill>
                <a:latin typeface="Arial"/>
                <a:ea typeface="Arial"/>
                <a:cs typeface="Arial"/>
              </a:rPr>
              <a:t>Chennai Institute of Technology</a:t>
            </a:r>
          </a:p>
          <a:p xmlns:a="http://schemas.openxmlformats.org/drawingml/2006/main">
            <a:pPr>
              <a:defRPr sz="1725" b="0">
                <a:solidFill>
                  <a:srgbClr val="C1D2DA"/>
                </a:solidFill>
                <a:latin typeface="Arial"/>
                <a:ea typeface="Arial"/>
                <a:cs typeface="Arial"/>
              </a:defRPr>
            </a:pPr>
            <a:r>
              <a:rPr sz="1725" b="0">
                <a:solidFill>
                  <a:srgbClr val="C1D2DA"/>
                </a:solidFill>
                <a:latin typeface="Arial"/>
                <a:ea typeface="Arial"/>
                <a:cs typeface="Arial"/>
              </a:rPr>
              <a:t>AZINHACK 2026</a:t>
            </a:r>
          </a:p>
        </p:txBody>
      </p:sp>
    </p:spTree>
    <p:extLst>
      <p:ext uri="{BB962C8B-B14F-4D97-AF65-F5344CB8AC3E}">
        <p14:creationId xmlns:p14="http://schemas.microsoft.com/office/powerpoint/2010/main" val="271385747"/>
      </p:ext>
    </p:extLst>
  </p:cSld>
</p:sld>
</file>

<file path=ppt/slides/slide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AD04F2-C952-4E7E-9E47-8BE8A39AA7E8}"/>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The company behind a plausible website</a:t>
            </a:r>
          </a:p>
        </p:txBody>
      </p:sp>
      <p:sp>
        <p:nvSpPr>
          <p:cNvPr id="2" name="">
            <a:extLst xmlns:a="http://schemas.openxmlformats.org/drawingml/2006/main">
              <a:ext uri="{FF2B5EF4-FFF2-40B4-BE49-F238E27FC236}">
                <a16:creationId xmlns:a16="http://schemas.microsoft.com/office/drawing/2014/main" id="{7969B53A-4FAA-4227-A2DC-44E62ACDE3EA}"/>
              </a:ext>
            </a:extLst>
          </p:cNvPr>
          <p:cNvSpPr>
            <a:spLocks xmlns:a="http://schemas.openxmlformats.org/drawingml/2006/main" noGrp="1"/>
          </p:cNvSpPr>
          <p:nvPr/>
        </p:nvSpPr>
        <p:spPr>
          <a:xfrm xmlns:a="http://schemas.openxmlformats.org/drawingml/2006/main">
            <a:off x="609600" y="15240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latin typeface="Arial"/>
                <a:ea typeface="Arial"/>
                <a:cs typeface="Arial"/>
              </a:defRPr>
            </a:def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Supplier researchers need exact legal attribution before trusting a profile.</a:t>
            </a:r>
          </a:p>
        </p:txBody>
      </p:sp>
      <p:sp>
        <p:nvSpPr>
          <p:cNvPr id="3" name="">
            <a:extLst xmlns:a="http://schemas.openxmlformats.org/drawingml/2006/main">
              <a:ext uri="{FF2B5EF4-FFF2-40B4-BE49-F238E27FC236}">
                <a16:creationId xmlns:a16="http://schemas.microsoft.com/office/drawing/2014/main" id="{7316D03D-59BE-4A35-97F9-1369A6196070}"/>
              </a:ext>
            </a:extLst>
          </p:cNvPr>
          <p:cNvSpPr>
            <a:spLocks xmlns:a="http://schemas.openxmlformats.org/drawingml/2006/main" noGrp="1"/>
          </p:cNvSpPr>
          <p:nvPr/>
        </p:nvSpPr>
        <p:spPr>
          <a:xfrm xmlns:a="http://schemas.openxmlformats.org/drawingml/2006/main">
            <a:off x="609600" y="2495550"/>
            <a:ext cx="4476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37682"/>
                </a:solidFill>
                <a:latin typeface="Arial"/>
                <a:ea typeface="Arial"/>
                <a:cs typeface="Arial"/>
              </a:defRPr>
            </a:defPPr>
          </a:lstStyle>
          <a:p xmlns:a="http://schemas.openxmlformats.org/drawingml/2006/main">
            <a:pPr>
              <a:defRPr sz="2100" b="0">
                <a:solidFill>
                  <a:srgbClr val="637682"/>
                </a:solidFill>
                <a:latin typeface="Arial"/>
                <a:ea typeface="Arial"/>
                <a:cs typeface="Arial"/>
              </a:defRPr>
            </a:pPr>
            <a:r>
              <a:rPr sz="2100" b="0">
                <a:solidFill>
                  <a:srgbClr val="637682"/>
                </a:solidFill>
                <a:latin typeface="Arial"/>
                <a:ea typeface="Arial"/>
                <a:cs typeface="Arial"/>
              </a:rPr>
              <a:t>A website name can refer to a brand, a parent company or a different business. Missing registry fields increase the checking work.</a:t>
            </a:r>
          </a:p>
        </p:txBody>
      </p:sp>
      <p:sp>
        <p:nvSpPr>
          <p:cNvPr id="4" name="">
            <a:extLst xmlns:a="http://schemas.openxmlformats.org/drawingml/2006/main">
              <a:ext uri="{FF2B5EF4-FFF2-40B4-BE49-F238E27FC236}">
                <a16:creationId xmlns:a16="http://schemas.microsoft.com/office/drawing/2014/main" id="{079BFA6E-A8AB-46AE-B027-05D04686C98D}"/>
              </a:ext>
            </a:extLst>
          </p:cNvPr>
          <p:cNvSpPr>
            <a:spLocks xmlns:a="http://schemas.openxmlformats.org/drawingml/2006/main" noGrp="1"/>
          </p:cNvSpPr>
          <p:nvPr/>
        </p:nvSpPr>
        <p:spPr>
          <a:xfrm xmlns:a="http://schemas.openxmlformats.org/drawingml/2006/main">
            <a:off x="609600" y="4895850"/>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7682"/>
                </a:solidFill>
                <a:latin typeface="Arial"/>
                <a:ea typeface="Arial"/>
                <a:cs typeface="Arial"/>
              </a:defRPr>
            </a:defPPr>
          </a:lstStyle>
          <a:p xmlns:a="http://schemas.openxmlformats.org/drawingml/2006/main">
            <a:pPr>
              <a:defRPr sz="1725" b="0">
                <a:solidFill>
                  <a:srgbClr val="637682"/>
                </a:solidFill>
                <a:latin typeface="Arial"/>
                <a:ea typeface="Arial"/>
                <a:cs typeface="Arial"/>
              </a:defRPr>
            </a:pPr>
            <a:r>
              <a:rPr sz="1725" b="0">
                <a:solidFill>
                  <a:srgbClr val="637682"/>
                </a:solidFill>
                <a:latin typeface="Arial"/>
                <a:ea typeface="Arial"/>
                <a:cs typeface="Arial"/>
              </a:rPr>
              <a:t>The local sample contains 100 companies. These are field-availability counts, not accuracy or market statistics.</a:t>
            </a:r>
          </a:p>
        </p:txBody>
      </p:sp>
      <p:graphicFrame>
        <p:nvGraphicFramePr>
          <p:cNvPr id="5" name="Chart">
            <a:extLst xmlns:a="http://schemas.openxmlformats.org/drawingml/2006/main">
              <a:ext uri="{FF2B5EF4-FFF2-40B4-BE49-F238E27FC236}">
                <a16:creationId xmlns:a16="http://schemas.microsoft.com/office/drawing/2014/main" id="{478FB4E4-8B69-400D-9DF4-CA703E3C3D7C}"/>
              </a:ext>
            </a:extLst>
          </p:cNvPr>
          <p:cNvGraphicFramePr/>
          <p:nvPr/>
        </p:nvGraphicFramePr>
        <p:xfrm>
          <a:off xmlns:a="http://schemas.openxmlformats.org/drawingml/2006/main" x="5381625" y="2324100"/>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d4f8bb89f1234fbd"/>
          </a:graphicData>
        </a:graphic>
      </p:graphicFrame>
    </p:spTree>
    <p:extLst>
      <p:ext uri="{BB962C8B-B14F-4D97-AF65-F5344CB8AC3E}">
        <p14:creationId xmlns:p14="http://schemas.microsoft.com/office/powerpoint/2010/main" val="1700697387"/>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C3B560-3D61-4BB3-A503-4986602FCC0D}"/>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 working company research desk</a:t>
            </a:r>
          </a:p>
        </p:txBody>
      </p:sp>
      <p:pic>
        <p:nvPicPr>
          <p:cNvPr id="2" name="">
            <a:extLst xmlns:a="http://schemas.openxmlformats.org/drawingml/2006/main">
              <a:ext uri="{FF2B5EF4-FFF2-40B4-BE49-F238E27FC236}">
                <a16:creationId xmlns:a16="http://schemas.microsoft.com/office/drawing/2014/main" id="{F353B363-7100-450B-9A65-105601E5F990}"/>
              </a:ext>
            </a:extLst>
          </p:cNvPr>
          <p:cNvPicPr>
            <a:picLocks xmlns:a="http://schemas.openxmlformats.org/drawingml/2006/main" noChangeAspect="1"/>
          </p:cNvPicPr>
          <p:nvPr/>
        </p:nvPicPr>
        <p:blipFill>
          <a:blip xmlns:r="http://schemas.openxmlformats.org/officeDocument/2006/relationships" xmlns:a="http://schemas.openxmlformats.org/drawingml/2006/main" r:embed="R62790f7e505a490f"/>
          <a:stretch xmlns:a="http://schemas.openxmlformats.org/drawingml/2006/main"/>
        </p:blipFill>
        <p:spPr>
          <a:xfrm xmlns:a="http://schemas.openxmlformats.org/drawingml/2006/main">
            <a:off x="609600" y="2393451"/>
            <a:ext cx="7810500" cy="264259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9E79FB-BE8A-460E-B08B-8B9FCEAC9677}"/>
              </a:ext>
            </a:extLst>
          </p:cNvPr>
          <p:cNvSpPr>
            <a:spLocks xmlns:a="http://schemas.openxmlformats.org/drawingml/2006/main" noGrp="1"/>
          </p:cNvSpPr>
          <p:nvPr/>
        </p:nvSpPr>
        <p:spPr>
          <a:xfrm xmlns:a="http://schemas.openxmlformats.org/drawingml/2006/main">
            <a:off x="8858250" y="1809750"/>
            <a:ext cx="2724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E766A"/>
                </a:solidFill>
                <a:latin typeface="Arial"/>
                <a:ea typeface="Arial"/>
                <a:cs typeface="Arial"/>
              </a:defRPr>
            </a:defPPr>
          </a:lstStyle>
          <a:p xmlns:a="http://schemas.openxmlformats.org/drawingml/2006/main">
            <a:pPr>
              <a:defRPr sz="2025" b="1">
                <a:solidFill>
                  <a:srgbClr val="0E766A"/>
                </a:solidFill>
                <a:latin typeface="Arial"/>
                <a:ea typeface="Arial"/>
                <a:cs typeface="Arial"/>
              </a:defRPr>
            </a:pPr>
            <a:r>
              <a:rPr sz="2025" b="1">
                <a:solidFill>
                  <a:srgbClr val="0E766A"/>
                </a:solidFill>
                <a:latin typeface="Arial"/>
                <a:ea typeface="Arial"/>
                <a:cs typeface="Arial"/>
              </a:rPr>
              <a:t>Exact legal number</a:t>
            </a:r>
          </a:p>
        </p:txBody>
      </p:sp>
      <p:sp>
        <p:nvSpPr>
          <p:cNvPr id="4" name="">
            <a:extLst xmlns:a="http://schemas.openxmlformats.org/drawingml/2006/main">
              <a:ext uri="{FF2B5EF4-FFF2-40B4-BE49-F238E27FC236}">
                <a16:creationId xmlns:a16="http://schemas.microsoft.com/office/drawing/2014/main" id="{BA953C26-D623-4146-B1A9-D1F58486B07D}"/>
              </a:ext>
            </a:extLst>
          </p:cNvPr>
          <p:cNvSpPr>
            <a:spLocks xmlns:a="http://schemas.openxmlformats.org/drawingml/2006/main" noGrp="1"/>
          </p:cNvSpPr>
          <p:nvPr/>
        </p:nvSpPr>
        <p:spPr>
          <a:xfrm xmlns:a="http://schemas.openxmlformats.org/drawingml/2006/main">
            <a:off x="8858250" y="2447925"/>
            <a:ext cx="2724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682"/>
                </a:solidFill>
                <a:latin typeface="Arial"/>
                <a:ea typeface="Arial"/>
                <a:cs typeface="Arial"/>
              </a:defRPr>
            </a:defPPr>
          </a:lstStyle>
          <a:p xmlns:a="http://schemas.openxmlformats.org/drawingml/2006/main">
            <a:pPr>
              <a:defRPr sz="1875" b="0">
                <a:solidFill>
                  <a:srgbClr val="637682"/>
                </a:solidFill>
                <a:latin typeface="Arial"/>
                <a:ea typeface="Arial"/>
                <a:cs typeface="Arial"/>
              </a:defRPr>
            </a:pPr>
            <a:r>
              <a:rPr sz="1875" b="0">
                <a:solidFill>
                  <a:srgbClr val="637682"/>
                </a:solidFill>
                <a:latin typeface="Arial"/>
                <a:ea typeface="Arial"/>
                <a:cs typeface="Arial"/>
              </a:rPr>
              <a:t>Filed periods stay separate. Group accounts are excluded.</a:t>
            </a:r>
          </a:p>
        </p:txBody>
      </p:sp>
      <p:sp>
        <p:nvSpPr>
          <p:cNvPr id="5" name="">
            <a:extLst xmlns:a="http://schemas.openxmlformats.org/drawingml/2006/main">
              <a:ext uri="{FF2B5EF4-FFF2-40B4-BE49-F238E27FC236}">
                <a16:creationId xmlns:a16="http://schemas.microsoft.com/office/drawing/2014/main" id="{786CAE5E-B5F1-4A94-AE99-362C2A0DA2B1}"/>
              </a:ext>
            </a:extLst>
          </p:cNvPr>
          <p:cNvSpPr>
            <a:spLocks xmlns:a="http://schemas.openxmlformats.org/drawingml/2006/main" noGrp="1"/>
          </p:cNvSpPr>
          <p:nvPr/>
        </p:nvSpPr>
        <p:spPr>
          <a:xfrm xmlns:a="http://schemas.openxmlformats.org/drawingml/2006/main">
            <a:off x="8858250" y="4000500"/>
            <a:ext cx="27241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682"/>
                </a:solidFill>
                <a:latin typeface="Arial"/>
                <a:ea typeface="Arial"/>
                <a:cs typeface="Arial"/>
              </a:defRPr>
            </a:defPPr>
          </a:lstStyle>
          <a:p xmlns:a="http://schemas.openxmlformats.org/drawingml/2006/main">
            <a:pPr>
              <a:defRPr sz="1875" b="0">
                <a:solidFill>
                  <a:srgbClr val="637682"/>
                </a:solidFill>
                <a:latin typeface="Arial"/>
                <a:ea typeface="Arial"/>
                <a:cs typeface="Arial"/>
              </a:defRPr>
            </a:pPr>
            <a:r>
              <a:rPr sz="1875" b="0">
                <a:solidFill>
                  <a:srgbClr val="637682"/>
                </a:solidFill>
                <a:latin typeface="Arial"/>
                <a:ea typeface="Arial"/>
                <a:cs typeface="Arial"/>
              </a:rPr>
              <a:t>Every claim opens its source, timestamp and extraction path.</a:t>
            </a:r>
          </a:p>
        </p:txBody>
      </p:sp>
    </p:spTree>
    <p:extLst>
      <p:ext uri="{BB962C8B-B14F-4D97-AF65-F5344CB8AC3E}">
        <p14:creationId xmlns:p14="http://schemas.microsoft.com/office/powerpoint/2010/main" val="1792130622"/>
      </p:ext>
    </p:extLst>
  </p:cSld>
</p:sld>
</file>

<file path=ppt/slides/slide4.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4B3E26-2268-4194-B8CE-0FE53FA65654}"/>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TinyFish integration</a:t>
            </a:r>
          </a:p>
        </p:txBody>
      </p:sp>
      <p:sp>
        <p:nvSpPr>
          <p:cNvPr id="2" name="">
            <a:extLst xmlns:a="http://schemas.openxmlformats.org/drawingml/2006/main">
              <a:ext uri="{FF2B5EF4-FFF2-40B4-BE49-F238E27FC236}">
                <a16:creationId xmlns:a16="http://schemas.microsoft.com/office/drawing/2014/main" id="{2093FBF1-ABF4-4683-8D21-FE888B4DE983}"/>
              </a:ext>
            </a:extLst>
          </p:cNvPr>
          <p:cNvSpPr>
            <a:spLocks xmlns:a="http://schemas.openxmlformats.org/drawingml/2006/main" noGrp="1"/>
          </p:cNvSpPr>
          <p:nvPr/>
        </p:nvSpPr>
        <p:spPr>
          <a:xfrm xmlns:a="http://schemas.openxmlformats.org/drawingml/2006/main">
            <a:off x="609600" y="168592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latin typeface="Arial"/>
                <a:ea typeface="Arial"/>
                <a:cs typeface="Arial"/>
              </a:defRPr>
            </a:def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Search finds candidate URLs</a:t>
            </a:r>
          </a:p>
        </p:txBody>
      </p:sp>
      <p:sp>
        <p:nvSpPr>
          <p:cNvPr id="3" name="">
            <a:extLst xmlns:a="http://schemas.openxmlformats.org/drawingml/2006/main">
              <a:ext uri="{FF2B5EF4-FFF2-40B4-BE49-F238E27FC236}">
                <a16:creationId xmlns:a16="http://schemas.microsoft.com/office/drawing/2014/main" id="{81FBC0B4-6B32-4257-ABB9-C34A65BF1856}"/>
              </a:ext>
            </a:extLst>
          </p:cNvPr>
          <p:cNvSpPr>
            <a:spLocks xmlns:a="http://schemas.openxmlformats.org/drawingml/2006/main" noGrp="1"/>
          </p:cNvSpPr>
          <p:nvPr/>
        </p:nvSpPr>
        <p:spPr>
          <a:xfrm xmlns:a="http://schemas.openxmlformats.org/drawingml/2006/main">
            <a:off x="609600" y="2466975"/>
            <a:ext cx="50958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Two searches combine the exact legal identity with licensed-source discovery. Search snippets stay transient.</a:t>
            </a:r>
          </a:p>
        </p:txBody>
      </p:sp>
      <p:sp>
        <p:nvSpPr>
          <p:cNvPr id="4" name="">
            <a:extLst xmlns:a="http://schemas.openxmlformats.org/drawingml/2006/main">
              <a:ext uri="{FF2B5EF4-FFF2-40B4-BE49-F238E27FC236}">
                <a16:creationId xmlns:a16="http://schemas.microsoft.com/office/drawing/2014/main" id="{586D095D-8F77-4546-A64D-97550176F338}"/>
              </a:ext>
            </a:extLst>
          </p:cNvPr>
          <p:cNvSpPr>
            <a:spLocks xmlns:a="http://schemas.openxmlformats.org/drawingml/2006/main" noGrp="1"/>
          </p:cNvSpPr>
          <p:nvPr/>
        </p:nvSpPr>
        <p:spPr>
          <a:xfrm xmlns:a="http://schemas.openxmlformats.org/drawingml/2006/main">
            <a:off x="6629400" y="16859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latin typeface="Arial"/>
                <a:ea typeface="Arial"/>
                <a:cs typeface="Arial"/>
              </a:defRPr>
            </a:def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Fetch exposes evidence</a:t>
            </a:r>
          </a:p>
        </p:txBody>
      </p:sp>
      <p:sp>
        <p:nvSpPr>
          <p:cNvPr id="5" name="">
            <a:extLst xmlns:a="http://schemas.openxmlformats.org/drawingml/2006/main">
              <a:ext uri="{FF2B5EF4-FFF2-40B4-BE49-F238E27FC236}">
                <a16:creationId xmlns:a16="http://schemas.microsoft.com/office/drawing/2014/main" id="{159EDA58-2A31-4D95-A0B5-79C639096F6F}"/>
              </a:ext>
            </a:extLst>
          </p:cNvPr>
          <p:cNvSpPr>
            <a:spLocks xmlns:a="http://schemas.openxmlformats.org/drawingml/2006/main" noGrp="1"/>
          </p:cNvSpPr>
          <p:nvPr/>
        </p:nvSpPr>
        <p:spPr>
          <a:xfrm xmlns:a="http://schemas.openxmlformats.org/drawingml/2006/main">
            <a:off x="6629400" y="2466975"/>
            <a:ext cx="495300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Public URL and robots checks run before Fetch. An explicit source-rights scope controls what can be inspected and published.</a:t>
            </a:r>
          </a:p>
        </p:txBody>
      </p:sp>
      <p:sp>
        <p:nvSpPr>
          <p:cNvPr id="6" name="">
            <a:extLst xmlns:a="http://schemas.openxmlformats.org/drawingml/2006/main">
              <a:ext uri="{FF2B5EF4-FFF2-40B4-BE49-F238E27FC236}">
                <a16:creationId xmlns:a16="http://schemas.microsoft.com/office/drawing/2014/main" id="{5B70B877-44B9-476D-A7B1-9775A7762C02}"/>
              </a:ext>
            </a:extLst>
          </p:cNvPr>
          <p:cNvSpPr>
            <a:spLocks xmlns:a="http://schemas.openxmlformats.org/drawingml/2006/main" noGrp="1"/>
          </p:cNvSpPr>
          <p:nvPr/>
        </p:nvSpPr>
        <p:spPr>
          <a:xfrm xmlns:a="http://schemas.openxmlformats.org/drawingml/2006/main">
            <a:off x="609600" y="49149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E766A"/>
                </a:solidFill>
                <a:latin typeface="Arial"/>
                <a:ea typeface="Arial"/>
                <a:cs typeface="Arial"/>
              </a:defRPr>
            </a:defPPr>
          </a:lstStyle>
          <a:p xmlns:a="http://schemas.openxmlformats.org/drawingml/2006/main">
            <a:pPr>
              <a:defRPr sz="2175" b="1">
                <a:solidFill>
                  <a:srgbClr val="0E766A"/>
                </a:solidFill>
                <a:latin typeface="Arial"/>
                <a:ea typeface="Arial"/>
                <a:cs typeface="Arial"/>
              </a:defRPr>
            </a:pPr>
            <a:r>
              <a:rPr sz="2175" b="1">
                <a:solidFill>
                  <a:srgbClr val="0E766A"/>
                </a:solidFill>
                <a:latin typeface="Arial"/>
                <a:ea typeface="Arial"/>
                <a:cs typeface="Arial"/>
              </a:rPr>
              <a:t>Real example: 2 Search requests and 1 Fetch request produced a matching licensed profile and rendered identity excerpt.</a:t>
            </a:r>
          </a:p>
        </p:txBody>
      </p:sp>
    </p:spTree>
    <p:extLst>
      <p:ext uri="{BB962C8B-B14F-4D97-AF65-F5344CB8AC3E}">
        <p14:creationId xmlns:p14="http://schemas.microsoft.com/office/powerpoint/2010/main" val="162949644"/>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E7AA76-B2CE-4103-84B7-104B1C5FCD6D}"/>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The evidence review queue</a:t>
            </a:r>
          </a:p>
        </p:txBody>
      </p:sp>
      <p:pic>
        <p:nvPicPr>
          <p:cNvPr id="2" name="">
            <a:extLst xmlns:a="http://schemas.openxmlformats.org/drawingml/2006/main">
              <a:ext uri="{FF2B5EF4-FFF2-40B4-BE49-F238E27FC236}">
                <a16:creationId xmlns:a16="http://schemas.microsoft.com/office/drawing/2014/main" id="{4E27471C-A1E1-435B-99BA-C4A648973841}"/>
              </a:ext>
            </a:extLst>
          </p:cNvPr>
          <p:cNvPicPr>
            <a:picLocks xmlns:a="http://schemas.openxmlformats.org/drawingml/2006/main" noChangeAspect="1"/>
          </p:cNvPicPr>
          <p:nvPr/>
        </p:nvPicPr>
        <p:blipFill>
          <a:blip xmlns:r="http://schemas.openxmlformats.org/officeDocument/2006/relationships" xmlns:a="http://schemas.openxmlformats.org/drawingml/2006/main" r:embed="R9679de4dcdbd4c76"/>
          <a:stretch xmlns:a="http://schemas.openxmlformats.org/drawingml/2006/main"/>
        </p:blipFill>
        <p:spPr>
          <a:xfrm xmlns:a="http://schemas.openxmlformats.org/drawingml/2006/main">
            <a:off x="609600" y="1655819"/>
            <a:ext cx="7810500" cy="422263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149950-4E1B-4AB0-A66E-02F090662BA6}"/>
              </a:ext>
            </a:extLst>
          </p:cNvPr>
          <p:cNvSpPr>
            <a:spLocks xmlns:a="http://schemas.openxmlformats.org/drawingml/2006/main" noGrp="1"/>
          </p:cNvSpPr>
          <p:nvPr/>
        </p:nvSpPr>
        <p:spPr>
          <a:xfrm xmlns:a="http://schemas.openxmlformats.org/drawingml/2006/main">
            <a:off x="8858250" y="1866900"/>
            <a:ext cx="2724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E766A"/>
                </a:solidFill>
                <a:latin typeface="Arial"/>
                <a:ea typeface="Arial"/>
                <a:cs typeface="Arial"/>
              </a:defRPr>
            </a:defPPr>
          </a:lstStyle>
          <a:p xmlns:a="http://schemas.openxmlformats.org/drawingml/2006/main">
            <a:pPr>
              <a:defRPr sz="2175" b="1">
                <a:solidFill>
                  <a:srgbClr val="0E766A"/>
                </a:solidFill>
                <a:latin typeface="Arial"/>
                <a:ea typeface="Arial"/>
                <a:cs typeface="Arial"/>
              </a:defRPr>
            </a:pPr>
            <a:r>
              <a:rPr sz="2175" b="1">
                <a:solidFill>
                  <a:srgbClr val="0E766A"/>
                </a:solidFill>
                <a:latin typeface="Arial"/>
                <a:ea typeface="Arial"/>
                <a:cs typeface="Arial"/>
              </a:rPr>
              <a:t>1 licensed profile</a:t>
            </a:r>
          </a:p>
        </p:txBody>
      </p:sp>
      <p:sp>
        <p:nvSpPr>
          <p:cNvPr id="4" name="">
            <a:extLst xmlns:a="http://schemas.openxmlformats.org/drawingml/2006/main">
              <a:ext uri="{FF2B5EF4-FFF2-40B4-BE49-F238E27FC236}">
                <a16:creationId xmlns:a16="http://schemas.microsoft.com/office/drawing/2014/main" id="{6CB1B99D-7D7C-4C8D-8B53-26BAF64A56BE}"/>
              </a:ext>
            </a:extLst>
          </p:cNvPr>
          <p:cNvSpPr>
            <a:spLocks xmlns:a="http://schemas.openxmlformats.org/drawingml/2006/main" noGrp="1"/>
          </p:cNvSpPr>
          <p:nvPr/>
        </p:nvSpPr>
        <p:spPr>
          <a:xfrm xmlns:a="http://schemas.openxmlformats.org/drawingml/2006/main">
            <a:off x="8858250" y="2657475"/>
            <a:ext cx="27241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682"/>
                </a:solidFill>
                <a:latin typeface="Arial"/>
                <a:ea typeface="Arial"/>
                <a:cs typeface="Arial"/>
              </a:defRPr>
            </a:defPPr>
          </a:lstStyle>
          <a:p xmlns:a="http://schemas.openxmlformats.org/drawingml/2006/main">
            <a:pPr>
              <a:defRPr sz="1875" b="0">
                <a:solidFill>
                  <a:srgbClr val="637682"/>
                </a:solidFill>
                <a:latin typeface="Arial"/>
                <a:ea typeface="Arial"/>
                <a:cs typeface="Arial"/>
              </a:defRPr>
            </a:pPr>
            <a:r>
              <a:rPr sz="1875" b="0">
                <a:solidFill>
                  <a:srgbClr val="637682"/>
                </a:solidFill>
                <a:latin typeface="Arial"/>
                <a:ea typeface="Arial"/>
                <a:cs typeface="Arial"/>
              </a:rPr>
              <a:t>The exact organisation number maps to a unique Wikidata entity.</a:t>
            </a:r>
          </a:p>
        </p:txBody>
      </p:sp>
      <p:sp>
        <p:nvSpPr>
          <p:cNvPr id="5" name="">
            <a:extLst xmlns:a="http://schemas.openxmlformats.org/drawingml/2006/main">
              <a:ext uri="{FF2B5EF4-FFF2-40B4-BE49-F238E27FC236}">
                <a16:creationId xmlns:a16="http://schemas.microsoft.com/office/drawing/2014/main" id="{B09F5070-1251-48F6-B2E3-94B09D73A5EE}"/>
              </a:ext>
            </a:extLst>
          </p:cNvPr>
          <p:cNvSpPr>
            <a:spLocks xmlns:a="http://schemas.openxmlformats.org/drawingml/2006/main" noGrp="1"/>
          </p:cNvSpPr>
          <p:nvPr/>
        </p:nvSpPr>
        <p:spPr>
          <a:xfrm xmlns:a="http://schemas.openxmlformats.org/drawingml/2006/main">
            <a:off x="8858250" y="4238625"/>
            <a:ext cx="2724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B3A"/>
                </a:solidFill>
                <a:latin typeface="Arial"/>
                <a:ea typeface="Arial"/>
                <a:cs typeface="Arial"/>
              </a:defRPr>
            </a:defPPr>
          </a:lstStyle>
          <a:p xmlns:a="http://schemas.openxmlformats.org/drawingml/2006/main">
            <a:pPr>
              <a:defRPr sz="2025" b="1">
                <a:solidFill>
                  <a:srgbClr val="172B3A"/>
                </a:solidFill>
                <a:latin typeface="Arial"/>
                <a:ea typeface="Arial"/>
                <a:cs typeface="Arial"/>
              </a:defRPr>
            </a:pPr>
            <a:r>
              <a:rPr sz="2025" b="1">
                <a:solidFill>
                  <a:srgbClr val="172B3A"/>
                </a:solidFill>
                <a:latin typeface="Arial"/>
                <a:ea typeface="Arial"/>
                <a:cs typeface="Arial"/>
              </a:rPr>
              <a:t>2 other pages withheld</a:t>
            </a:r>
          </a:p>
        </p:txBody>
      </p:sp>
      <p:sp>
        <p:nvSpPr>
          <p:cNvPr id="6" name="">
            <a:extLst xmlns:a="http://schemas.openxmlformats.org/drawingml/2006/main">
              <a:ext uri="{FF2B5EF4-FFF2-40B4-BE49-F238E27FC236}">
                <a16:creationId xmlns:a16="http://schemas.microsoft.com/office/drawing/2014/main" id="{1956FD2A-7E4A-4792-9F4D-B81E27B94969}"/>
              </a:ext>
            </a:extLst>
          </p:cNvPr>
          <p:cNvSpPr>
            <a:spLocks xmlns:a="http://schemas.openxmlformats.org/drawingml/2006/main" noGrp="1"/>
          </p:cNvSpPr>
          <p:nvPr/>
        </p:nvSpPr>
        <p:spPr>
          <a:xfrm xmlns:a="http://schemas.openxmlformats.org/drawingml/2006/main">
            <a:off x="8858250" y="4981575"/>
            <a:ext cx="2724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682"/>
                </a:solidFill>
                <a:latin typeface="Arial"/>
                <a:ea typeface="Arial"/>
                <a:cs typeface="Arial"/>
              </a:defRPr>
            </a:defPPr>
          </a:lstStyle>
          <a:p xmlns:a="http://schemas.openxmlformats.org/drawingml/2006/main">
            <a:pPr>
              <a:defRPr sz="1800" b="0">
                <a:solidFill>
                  <a:srgbClr val="637682"/>
                </a:solidFill>
                <a:latin typeface="Arial"/>
                <a:ea typeface="Arial"/>
                <a:cs typeface="Arial"/>
              </a:defRPr>
            </a:pPr>
            <a:r>
              <a:rPr sz="1800" b="0">
                <a:solidFill>
                  <a:srgbClr val="637682"/>
                </a:solidFill>
                <a:latin typeface="Arial"/>
                <a:ea typeface="Arial"/>
                <a:cs typeface="Arial"/>
              </a:rPr>
              <a:t>Unreviewed source rights keep their company facts unpublished.</a:t>
            </a:r>
          </a:p>
        </p:txBody>
      </p:sp>
    </p:spTree>
    <p:extLst>
      <p:ext uri="{BB962C8B-B14F-4D97-AF65-F5344CB8AC3E}">
        <p14:creationId xmlns:p14="http://schemas.microsoft.com/office/powerpoint/2010/main" val="646151051"/>
      </p:ext>
    </p:extLst>
  </p:cSld>
</p:sld>
</file>

<file path=ppt/slides/slide6.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B9341A-A8F4-4B1F-884D-70052CDDB6F9}"/>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AI role and technical approach</a:t>
            </a:r>
          </a:p>
        </p:txBody>
      </p:sp>
      <p:sp>
        <p:nvSpPr>
          <p:cNvPr id="2" name="">
            <a:extLst xmlns:a="http://schemas.openxmlformats.org/drawingml/2006/main">
              <a:ext uri="{FF2B5EF4-FFF2-40B4-BE49-F238E27FC236}">
                <a16:creationId xmlns:a16="http://schemas.microsoft.com/office/drawing/2014/main" id="{07E0D794-5979-4FBD-9DEF-D06413B075AB}"/>
              </a:ext>
            </a:extLst>
          </p:cNvPr>
          <p:cNvSpPr>
            <a:spLocks xmlns:a="http://schemas.openxmlformats.org/drawingml/2006/main" noGrp="1"/>
          </p:cNvSpPr>
          <p:nvPr/>
        </p:nvSpPr>
        <p:spPr>
          <a:xfrm xmlns:a="http://schemas.openxmlformats.org/drawingml/2006/main">
            <a:off x="609600" y="18478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B3A"/>
                </a:solidFill>
                <a:latin typeface="Arial"/>
                <a:ea typeface="Arial"/>
                <a:cs typeface="Arial"/>
              </a:defRPr>
            </a:defPPr>
          </a:lstStyle>
          <a:p xmlns:a="http://schemas.openxmlformats.org/drawingml/2006/main">
            <a:pPr>
              <a:defRPr sz="2175" b="1">
                <a:solidFill>
                  <a:srgbClr val="172B3A"/>
                </a:solidFill>
                <a:latin typeface="Arial"/>
                <a:ea typeface="Arial"/>
                <a:cs typeface="Arial"/>
              </a:defRPr>
            </a:pPr>
            <a:r>
              <a:rPr sz="2175" b="1">
                <a:solidFill>
                  <a:srgbClr val="172B3A"/>
                </a:solidFill>
                <a:latin typeface="Arial"/>
                <a:ea typeface="Arial"/>
                <a:cs typeface="Arial"/>
              </a:rPr>
              <a:t>AI web infrastructure</a:t>
            </a:r>
          </a:p>
        </p:txBody>
      </p:sp>
      <p:sp>
        <p:nvSpPr>
          <p:cNvPr id="3" name="">
            <a:extLst xmlns:a="http://schemas.openxmlformats.org/drawingml/2006/main">
              <a:ext uri="{FF2B5EF4-FFF2-40B4-BE49-F238E27FC236}">
                <a16:creationId xmlns:a16="http://schemas.microsoft.com/office/drawing/2014/main" id="{A4AE6514-AD13-48A5-8E60-3D7312207C06}"/>
              </a:ext>
            </a:extLst>
          </p:cNvPr>
          <p:cNvSpPr>
            <a:spLocks xmlns:a="http://schemas.openxmlformats.org/drawingml/2006/main" noGrp="1"/>
          </p:cNvSpPr>
          <p:nvPr/>
        </p:nvSpPr>
        <p:spPr>
          <a:xfrm xmlns:a="http://schemas.openxmlformats.org/drawingml/2006/main">
            <a:off x="609600" y="2609850"/>
            <a:ext cx="4953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TinyFish handles live discovery and readable page extraction. Retrieved text is treated as data, never instructions.</a:t>
            </a:r>
          </a:p>
        </p:txBody>
      </p:sp>
      <p:sp>
        <p:nvSpPr>
          <p:cNvPr id="4" name="">
            <a:extLst xmlns:a="http://schemas.openxmlformats.org/drawingml/2006/main">
              <a:ext uri="{FF2B5EF4-FFF2-40B4-BE49-F238E27FC236}">
                <a16:creationId xmlns:a16="http://schemas.microsoft.com/office/drawing/2014/main" id="{D6907A78-8340-4BA7-BE99-A44DAB9DF7F9}"/>
              </a:ext>
            </a:extLst>
          </p:cNvPr>
          <p:cNvSpPr>
            <a:spLocks xmlns:a="http://schemas.openxmlformats.org/drawingml/2006/main" noGrp="1"/>
          </p:cNvSpPr>
          <p:nvPr/>
        </p:nvSpPr>
        <p:spPr>
          <a:xfrm xmlns:a="http://schemas.openxmlformats.org/drawingml/2006/main">
            <a:off x="6629400" y="18478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B3A"/>
                </a:solidFill>
                <a:latin typeface="Arial"/>
                <a:ea typeface="Arial"/>
                <a:cs typeface="Arial"/>
              </a:defRPr>
            </a:defPPr>
          </a:lstStyle>
          <a:p xmlns:a="http://schemas.openxmlformats.org/drawingml/2006/main">
            <a:pPr>
              <a:defRPr sz="2175" b="1">
                <a:solidFill>
                  <a:srgbClr val="172B3A"/>
                </a:solidFill>
                <a:latin typeface="Arial"/>
                <a:ea typeface="Arial"/>
                <a:cs typeface="Arial"/>
              </a:defRPr>
            </a:pPr>
            <a:r>
              <a:rPr sz="2175" b="1">
                <a:solidFill>
                  <a:srgbClr val="172B3A"/>
                </a:solidFill>
                <a:latin typeface="Arial"/>
                <a:ea typeface="Arial"/>
                <a:cs typeface="Arial"/>
              </a:rPr>
              <a:t>Deterministic attribution</a:t>
            </a:r>
          </a:p>
        </p:txBody>
      </p:sp>
      <p:sp>
        <p:nvSpPr>
          <p:cNvPr id="5" name="">
            <a:extLst xmlns:a="http://schemas.openxmlformats.org/drawingml/2006/main">
              <a:ext uri="{FF2B5EF4-FFF2-40B4-BE49-F238E27FC236}">
                <a16:creationId xmlns:a16="http://schemas.microsoft.com/office/drawing/2014/main" id="{44848F73-CFC2-472A-8E1D-BD326F3A86C5}"/>
              </a:ext>
            </a:extLst>
          </p:cNvPr>
          <p:cNvSpPr>
            <a:spLocks xmlns:a="http://schemas.openxmlformats.org/drawingml/2006/main" noGrp="1"/>
          </p:cNvSpPr>
          <p:nvPr/>
        </p:nvSpPr>
        <p:spPr>
          <a:xfrm xmlns:a="http://schemas.openxmlformats.org/drawingml/2006/main">
            <a:off x="6629400" y="2609850"/>
            <a:ext cx="4953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BRREG anchors legal identity. A unique Wikidata P2333 mapping supports a licensed entity profile. Conflicting identities stay ambiguous.</a:t>
            </a:r>
          </a:p>
        </p:txBody>
      </p:sp>
      <p:sp>
        <p:nvSpPr>
          <p:cNvPr id="6" name="">
            <a:extLst xmlns:a="http://schemas.openxmlformats.org/drawingml/2006/main">
              <a:ext uri="{FF2B5EF4-FFF2-40B4-BE49-F238E27FC236}">
                <a16:creationId xmlns:a16="http://schemas.microsoft.com/office/drawing/2014/main" id="{9DD80482-225B-41D8-8A44-029A1698453F}"/>
              </a:ext>
            </a:extLst>
          </p:cNvPr>
          <p:cNvSpPr>
            <a:spLocks xmlns:a="http://schemas.openxmlformats.org/drawingml/2006/main" noGrp="1"/>
          </p:cNvSpPr>
          <p:nvPr/>
        </p:nvSpPr>
        <p:spPr>
          <a:xfrm xmlns:a="http://schemas.openxmlformats.org/drawingml/2006/main">
            <a:off x="609600" y="5438775"/>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E766A"/>
                </a:solidFill>
                <a:latin typeface="Arial"/>
                <a:ea typeface="Arial"/>
                <a:cs typeface="Arial"/>
              </a:defRPr>
            </a:defPPr>
          </a:lstStyle>
          <a:p xmlns:a="http://schemas.openxmlformats.org/drawingml/2006/main">
            <a:pPr>
              <a:defRPr sz="2175" b="1">
                <a:solidFill>
                  <a:srgbClr val="0E766A"/>
                </a:solidFill>
                <a:latin typeface="Arial"/>
                <a:ea typeface="Arial"/>
                <a:cs typeface="Arial"/>
              </a:defRPr>
            </a:pPr>
            <a:r>
              <a:rPr sz="2175" b="1">
                <a:solidFill>
                  <a:srgbClr val="0E766A"/>
                </a:solidFill>
                <a:latin typeface="Arial"/>
                <a:ea typeface="Arial"/>
                <a:cs typeface="Arial"/>
              </a:rPr>
              <a:t>Company facts come from attributed source fields. Identity checks remain deterministic.</a:t>
            </a:r>
          </a:p>
        </p:txBody>
      </p:sp>
    </p:spTree>
    <p:extLst>
      <p:ext uri="{BB962C8B-B14F-4D97-AF65-F5344CB8AC3E}">
        <p14:creationId xmlns:p14="http://schemas.microsoft.com/office/powerpoint/2010/main" val="1803424903"/>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CDE87F-FB89-4406-AADD-555F9915F8D9}"/>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Source inspection and refresh</a:t>
            </a:r>
          </a:p>
        </p:txBody>
      </p:sp>
      <p:pic>
        <p:nvPicPr>
          <p:cNvPr id="2" name="">
            <a:extLst xmlns:a="http://schemas.openxmlformats.org/drawingml/2006/main">
              <a:ext uri="{FF2B5EF4-FFF2-40B4-BE49-F238E27FC236}">
                <a16:creationId xmlns:a16="http://schemas.microsoft.com/office/drawing/2014/main" id="{A2F1883D-F21D-4014-86FF-5DE35AFB21F8}"/>
              </a:ext>
            </a:extLst>
          </p:cNvPr>
          <p:cNvPicPr>
            <a:picLocks xmlns:a="http://schemas.openxmlformats.org/drawingml/2006/main" noChangeAspect="1"/>
          </p:cNvPicPr>
          <p:nvPr/>
        </p:nvPicPr>
        <p:blipFill>
          <a:blip xmlns:r="http://schemas.openxmlformats.org/officeDocument/2006/relationships" xmlns:a="http://schemas.openxmlformats.org/drawingml/2006/main" r:embed="Rba9d0b4fa3414e68"/>
          <a:stretch xmlns:a="http://schemas.openxmlformats.org/drawingml/2006/main"/>
        </p:blipFill>
        <p:spPr>
          <a:xfrm xmlns:a="http://schemas.openxmlformats.org/drawingml/2006/main">
            <a:off x="1058395" y="1543050"/>
            <a:ext cx="4293535" cy="44577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416347-A2EA-4E82-A255-87CC91906B81}"/>
              </a:ext>
            </a:extLst>
          </p:cNvPr>
          <p:cNvSpPr>
            <a:spLocks xmlns:a="http://schemas.openxmlformats.org/drawingml/2006/main" noGrp="1"/>
          </p:cNvSpPr>
          <p:nvPr/>
        </p:nvSpPr>
        <p:spPr>
          <a:xfrm xmlns:a="http://schemas.openxmlformats.org/drawingml/2006/main">
            <a:off x="6543675" y="1724025"/>
            <a:ext cx="50387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2B3A"/>
                </a:solidFill>
                <a:latin typeface="Arial"/>
                <a:ea typeface="Arial"/>
                <a:cs typeface="Arial"/>
              </a:defRPr>
            </a:def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A paper trail for every available claim</a:t>
            </a:r>
          </a:p>
        </p:txBody>
      </p:sp>
      <p:sp>
        <p:nvSpPr>
          <p:cNvPr id="4" name="">
            <a:extLst xmlns:a="http://schemas.openxmlformats.org/drawingml/2006/main">
              <a:ext uri="{FF2B5EF4-FFF2-40B4-BE49-F238E27FC236}">
                <a16:creationId xmlns:a16="http://schemas.microsoft.com/office/drawing/2014/main" id="{045E7A8A-064E-40CB-AB0E-43648952A211}"/>
              </a:ext>
            </a:extLst>
          </p:cNvPr>
          <p:cNvSpPr>
            <a:spLocks xmlns:a="http://schemas.openxmlformats.org/drawingml/2006/main" noGrp="1"/>
          </p:cNvSpPr>
          <p:nvPr/>
        </p:nvSpPr>
        <p:spPr>
          <a:xfrm xmlns:a="http://schemas.openxmlformats.org/drawingml/2006/main">
            <a:off x="6543675" y="2838450"/>
            <a:ext cx="5038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Source URL and retrieval time</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Reporting period where relevant</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Content and snapshot hashes</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Extraction location</a:t>
            </a:r>
          </a:p>
        </p:txBody>
      </p:sp>
      <p:sp>
        <p:nvSpPr>
          <p:cNvPr id="5" name="">
            <a:extLst xmlns:a="http://schemas.openxmlformats.org/drawingml/2006/main">
              <a:ext uri="{FF2B5EF4-FFF2-40B4-BE49-F238E27FC236}">
                <a16:creationId xmlns:a16="http://schemas.microsoft.com/office/drawing/2014/main" id="{8EC72B61-5059-4BA7-A123-0244E7AC6E67}"/>
              </a:ext>
            </a:extLst>
          </p:cNvPr>
          <p:cNvSpPr>
            <a:spLocks xmlns:a="http://schemas.openxmlformats.org/drawingml/2006/main" noGrp="1"/>
          </p:cNvSpPr>
          <p:nvPr/>
        </p:nvSpPr>
        <p:spPr>
          <a:xfrm xmlns:a="http://schemas.openxmlformats.org/drawingml/2006/main">
            <a:off x="6543675" y="5048250"/>
            <a:ext cx="50387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E766A"/>
                </a:solidFill>
                <a:latin typeface="Arial"/>
                <a:ea typeface="Arial"/>
                <a:cs typeface="Arial"/>
              </a:defRPr>
            </a:defPPr>
          </a:lstStyle>
          <a:p xmlns:a="http://schemas.openxmlformats.org/drawingml/2006/main">
            <a:pPr>
              <a:defRPr sz="1950" b="1">
                <a:solidFill>
                  <a:srgbClr val="0E766A"/>
                </a:solidFill>
                <a:latin typeface="Arial"/>
                <a:ea typeface="Arial"/>
                <a:cs typeface="Arial"/>
              </a:defRPr>
            </a:pPr>
            <a:r>
              <a:rPr sz="1950" b="1">
                <a:solidFill>
                  <a:srgbClr val="0E766A"/>
                </a:solidFill>
                <a:latin typeface="Arial"/>
                <a:ea typeface="Arial"/>
                <a:cs typeface="Arial"/>
              </a:rPr>
              <a:t>Refresh retains previous evidence. Changed values and missing observations are distinct.</a:t>
            </a:r>
          </a:p>
        </p:txBody>
      </p:sp>
    </p:spTree>
    <p:extLst>
      <p:ext uri="{BB962C8B-B14F-4D97-AF65-F5344CB8AC3E}">
        <p14:creationId xmlns:p14="http://schemas.microsoft.com/office/powerpoint/2010/main" val="1490861609"/>
      </p:ext>
    </p:extLst>
  </p:cSld>
</p:sld>
</file>

<file path=ppt/slides/slide8.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48D155-9C5E-40C3-8FDA-2CAF9B8A88AB}"/>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Measured execution and current limits</a:t>
            </a:r>
          </a:p>
        </p:txBody>
      </p:sp>
      <p:sp>
        <p:nvSpPr>
          <p:cNvPr id="2" name="">
            <a:extLst xmlns:a="http://schemas.openxmlformats.org/drawingml/2006/main">
              <a:ext uri="{FF2B5EF4-FFF2-40B4-BE49-F238E27FC236}">
                <a16:creationId xmlns:a16="http://schemas.microsoft.com/office/drawing/2014/main" id="{B1E9D9AF-EE10-4B35-90C5-5D9CF2392E35}"/>
              </a:ext>
            </a:extLst>
          </p:cNvPr>
          <p:cNvSpPr>
            <a:spLocks xmlns:a="http://schemas.openxmlformats.org/drawingml/2006/main" noGrp="1"/>
          </p:cNvSpPr>
          <p:nvPr/>
        </p:nvSpPr>
        <p:spPr>
          <a:xfrm xmlns:a="http://schemas.openxmlformats.org/drawingml/2006/main">
            <a:off x="609600" y="170497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925" b="1">
                <a:solidFill>
                  <a:srgbClr val="0E766A"/>
                </a:solidFill>
                <a:latin typeface="Arial"/>
                <a:ea typeface="Arial"/>
                <a:cs typeface="Arial"/>
              </a:defRPr>
            </a:defPPr>
          </a:lstStyle>
          <a:p xmlns:a="http://schemas.openxmlformats.org/drawingml/2006/main">
            <a:pPr>
              <a:defRPr sz="5925" b="1">
                <a:solidFill>
                  <a:srgbClr val="0E766A"/>
                </a:solidFill>
                <a:latin typeface="Arial"/>
                <a:ea typeface="Arial"/>
                <a:cs typeface="Arial"/>
              </a:defRPr>
            </a:pPr>
            <a:r>
              <a:rPr sz="5925" b="1">
                <a:solidFill>
                  <a:srgbClr val="0E766A"/>
                </a:solidFill>
                <a:latin typeface="Arial"/>
                <a:ea typeface="Arial"/>
                <a:cs typeface="Arial"/>
              </a:rPr>
              <a:t>100 / 100</a:t>
            </a:r>
          </a:p>
        </p:txBody>
      </p:sp>
      <p:sp>
        <p:nvSpPr>
          <p:cNvPr id="3" name="">
            <a:extLst xmlns:a="http://schemas.openxmlformats.org/drawingml/2006/main">
              <a:ext uri="{FF2B5EF4-FFF2-40B4-BE49-F238E27FC236}">
                <a16:creationId xmlns:a16="http://schemas.microsoft.com/office/drawing/2014/main" id="{D6B264E4-2427-4C86-A8C2-DC623ABA1645}"/>
              </a:ext>
            </a:extLst>
          </p:cNvPr>
          <p:cNvSpPr>
            <a:spLocks xmlns:a="http://schemas.openxmlformats.org/drawingml/2006/main" noGrp="1"/>
          </p:cNvSpPr>
          <p:nvPr/>
        </p:nvSpPr>
        <p:spPr>
          <a:xfrm xmlns:a="http://schemas.openxmlformats.org/drawingml/2006/main">
            <a:off x="657225" y="2886075"/>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latin typeface="Arial"/>
                <a:ea typeface="Arial"/>
                <a:cs typeface="Arial"/>
              </a:defRPr>
            </a:def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Terminal results in the official-source smoke test</a:t>
            </a:r>
          </a:p>
        </p:txBody>
      </p:sp>
      <p:sp>
        <p:nvSpPr>
          <p:cNvPr id="4" name="">
            <a:extLst xmlns:a="http://schemas.openxmlformats.org/drawingml/2006/main">
              <a:ext uri="{FF2B5EF4-FFF2-40B4-BE49-F238E27FC236}">
                <a16:creationId xmlns:a16="http://schemas.microsoft.com/office/drawing/2014/main" id="{FBAAF538-6BB2-44CD-9705-033CA5BDB2D2}"/>
              </a:ext>
            </a:extLst>
          </p:cNvPr>
          <p:cNvSpPr>
            <a:spLocks xmlns:a="http://schemas.openxmlformats.org/drawingml/2006/main" noGrp="1"/>
          </p:cNvSpPr>
          <p:nvPr/>
        </p:nvSpPr>
        <p:spPr>
          <a:xfrm xmlns:a="http://schemas.openxmlformats.org/drawingml/2006/main">
            <a:off x="657225" y="4295775"/>
            <a:ext cx="5048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37682"/>
                </a:solidFill>
                <a:latin typeface="Arial"/>
                <a:ea typeface="Arial"/>
                <a:cs typeface="Arial"/>
              </a:defRPr>
            </a:defPPr>
          </a:lstStyle>
          <a:p xmlns:a="http://schemas.openxmlformats.org/drawingml/2006/main">
            <a:pPr>
              <a:defRPr sz="2100" b="0">
                <a:solidFill>
                  <a:srgbClr val="637682"/>
                </a:solidFill>
                <a:latin typeface="Arial"/>
                <a:ea typeface="Arial"/>
                <a:cs typeface="Arial"/>
              </a:defRPr>
            </a:pPr>
            <a:r>
              <a:rPr sz="2100" b="0">
                <a:solidFill>
                  <a:srgbClr val="637682"/>
                </a:solidFill>
                <a:latin typeface="Arial"/>
                <a:ea typeface="Arial"/>
                <a:cs typeface="Arial"/>
              </a:rPr>
              <a:t>401 requests in 151.2 seconds</a:t>
            </a:r>
          </a:p>
          <a:p xmlns:a="http://schemas.openxmlformats.org/drawingml/2006/main">
            <a:pPr>
              <a:defRPr sz="2100" b="0">
                <a:solidFill>
                  <a:srgbClr val="637682"/>
                </a:solidFill>
                <a:latin typeface="Arial"/>
                <a:ea typeface="Arial"/>
                <a:cs typeface="Arial"/>
              </a:defRPr>
            </a:pPr>
            <a:r>
              <a:rPr sz="2100" b="0">
                <a:solidFill>
                  <a:srgbClr val="637682"/>
                </a:solidFill>
                <a:latin typeface="Arial"/>
                <a:ea typeface="Arial"/>
                <a:cs typeface="Arial"/>
              </a:rPr>
              <a:t>0 remaining collector errors</a:t>
            </a:r>
          </a:p>
          <a:p xmlns:a="http://schemas.openxmlformats.org/drawingml/2006/main">
            <a:pPr>
              <a:defRPr sz="2100" b="0">
                <a:solidFill>
                  <a:srgbClr val="637682"/>
                </a:solidFill>
                <a:latin typeface="Arial"/>
                <a:ea typeface="Arial"/>
                <a:cs typeface="Arial"/>
              </a:defRPr>
            </a:pPr>
            <a:r>
              <a:rPr sz="2100" b="0">
                <a:solidFill>
                  <a:srgbClr val="637682"/>
                </a:solidFill>
                <a:latin typeface="Arial"/>
                <a:ea typeface="Arial"/>
                <a:cs typeface="Arial"/>
              </a:rPr>
              <a:t>USD 0 paid API charges</a:t>
            </a:r>
          </a:p>
        </p:txBody>
      </p:sp>
      <p:sp>
        <p:nvSpPr>
          <p:cNvPr id="5" name="">
            <a:extLst xmlns:a="http://schemas.openxmlformats.org/drawingml/2006/main">
              <a:ext uri="{FF2B5EF4-FFF2-40B4-BE49-F238E27FC236}">
                <a16:creationId xmlns:a16="http://schemas.microsoft.com/office/drawing/2014/main" id="{95CB78E2-AF6B-42BB-BB6C-8FC6D11AF939}"/>
              </a:ext>
            </a:extLst>
          </p:cNvPr>
          <p:cNvSpPr>
            <a:spLocks xmlns:a="http://schemas.openxmlformats.org/drawingml/2006/main" noGrp="1"/>
          </p:cNvSpPr>
          <p:nvPr/>
        </p:nvSpPr>
        <p:spPr>
          <a:xfrm xmlns:a="http://schemas.openxmlformats.org/drawingml/2006/main">
            <a:off x="6629400" y="18288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23 tests pass</a:t>
            </a:r>
          </a:p>
        </p:txBody>
      </p:sp>
      <p:sp>
        <p:nvSpPr>
          <p:cNvPr id="6" name="">
            <a:extLst xmlns:a="http://schemas.openxmlformats.org/drawingml/2006/main">
              <a:ext uri="{FF2B5EF4-FFF2-40B4-BE49-F238E27FC236}">
                <a16:creationId xmlns:a16="http://schemas.microsoft.com/office/drawing/2014/main" id="{CFD6A30C-D204-49B0-9417-A3548955469C}"/>
              </a:ext>
            </a:extLst>
          </p:cNvPr>
          <p:cNvSpPr>
            <a:spLocks xmlns:a="http://schemas.openxmlformats.org/drawingml/2006/main" noGrp="1"/>
          </p:cNvSpPr>
          <p:nvPr/>
        </p:nvSpPr>
        <p:spPr>
          <a:xfrm xmlns:a="http://schemas.openxmlformats.org/drawingml/2006/main">
            <a:off x="6629400" y="2790825"/>
            <a:ext cx="4953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Wrong-company accounts, missingness, privacy, refresh, URL policy and exact licensed-entity mapping are tested.</a:t>
            </a:r>
          </a:p>
        </p:txBody>
      </p:sp>
      <p:sp>
        <p:nvSpPr>
          <p:cNvPr id="7" name="">
            <a:extLst xmlns:a="http://schemas.openxmlformats.org/drawingml/2006/main">
              <a:ext uri="{FF2B5EF4-FFF2-40B4-BE49-F238E27FC236}">
                <a16:creationId xmlns:a16="http://schemas.microsoft.com/office/drawing/2014/main" id="{9E85266A-B28E-45D3-A7A7-A9F98FD296D8}"/>
              </a:ext>
            </a:extLst>
          </p:cNvPr>
          <p:cNvSpPr>
            <a:spLocks xmlns:a="http://schemas.openxmlformats.org/drawingml/2006/main" noGrp="1"/>
          </p:cNvSpPr>
          <p:nvPr/>
        </p:nvSpPr>
        <p:spPr>
          <a:xfrm xmlns:a="http://schemas.openxmlformats.org/drawingml/2006/main">
            <a:off x="6629400" y="4724400"/>
            <a:ext cx="4953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37682"/>
                </a:solidFill>
                <a:latin typeface="Arial"/>
                <a:ea typeface="Arial"/>
                <a:cs typeface="Arial"/>
              </a:defRPr>
            </a:defPPr>
          </a:lstStyle>
          <a:p xmlns:a="http://schemas.openxmlformats.org/drawingml/2006/main">
            <a:pPr>
              <a:defRPr sz="1800" b="0">
                <a:solidFill>
                  <a:srgbClr val="637682"/>
                </a:solidFill>
                <a:latin typeface="Arial"/>
                <a:ea typeface="Arial"/>
                <a:cs typeface="Arial"/>
              </a:defRPr>
            </a:pPr>
            <a:r>
              <a:rPr sz="1800" b="0">
                <a:solidFill>
                  <a:srgbClr val="637682"/>
                </a:solidFill>
                <a:latin typeface="Arial"/>
                <a:ea typeface="Arial"/>
                <a:cs typeface="Arial"/>
              </a:rPr>
              <a:t>The sponsor workflow was tested on one company through the live UI. Independent precision, recall and time saved remain unmeasured.</a:t>
            </a:r>
          </a:p>
        </p:txBody>
      </p:sp>
    </p:spTree>
    <p:extLst>
      <p:ext uri="{BB962C8B-B14F-4D97-AF65-F5344CB8AC3E}">
        <p14:creationId xmlns:p14="http://schemas.microsoft.com/office/powerpoint/2010/main" val="2080716958"/>
      </p:ext>
    </p:extLst>
  </p:cSld>
</p:sld>
</file>

<file path=ppt/slides/slide9.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5B06FF-D7DF-4C73-9D37-7330E8996053}"/>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Users, impact and feasibility</a:t>
            </a:r>
          </a:p>
        </p:txBody>
      </p:sp>
      <p:pic>
        <p:nvPicPr>
          <p:cNvPr id="2" name="">
            <a:extLst xmlns:a="http://schemas.openxmlformats.org/drawingml/2006/main">
              <a:ext uri="{FF2B5EF4-FFF2-40B4-BE49-F238E27FC236}">
                <a16:creationId xmlns:a16="http://schemas.microsoft.com/office/drawing/2014/main" id="{3690A9E1-FB46-4A7E-A3E6-DEF18E667318}"/>
              </a:ext>
            </a:extLst>
          </p:cNvPr>
          <p:cNvPicPr>
            <a:picLocks xmlns:a="http://schemas.openxmlformats.org/drawingml/2006/main" noChangeAspect="1"/>
          </p:cNvPicPr>
          <p:nvPr/>
        </p:nvPicPr>
        <p:blipFill>
          <a:blip xmlns:r="http://schemas.openxmlformats.org/officeDocument/2006/relationships" xmlns:a="http://schemas.openxmlformats.org/drawingml/2006/main" r:embed="Re2eb9fb076854459"/>
          <a:stretch xmlns:a="http://schemas.openxmlformats.org/drawingml/2006/main"/>
        </p:blipFill>
        <p:spPr>
          <a:xfrm xmlns:a="http://schemas.openxmlformats.org/drawingml/2006/main">
            <a:off x="925302" y="1562100"/>
            <a:ext cx="2007021" cy="43434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E216051-ED99-438F-8FEF-CC04DC82A602}"/>
              </a:ext>
            </a:extLst>
          </p:cNvPr>
          <p:cNvSpPr>
            <a:spLocks xmlns:a="http://schemas.openxmlformats.org/drawingml/2006/main" noGrp="1"/>
          </p:cNvSpPr>
          <p:nvPr/>
        </p:nvSpPr>
        <p:spPr>
          <a:xfrm xmlns:a="http://schemas.openxmlformats.org/drawingml/2006/main">
            <a:off x="3857625" y="1714500"/>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B3A"/>
                </a:solidFill>
                <a:latin typeface="Arial"/>
                <a:ea typeface="Arial"/>
                <a:cs typeface="Arial"/>
              </a:defRPr>
            </a:defPPr>
          </a:lstStyle>
          <a:p xmlns:a="http://schemas.openxmlformats.org/drawingml/2006/main">
            <a:pPr>
              <a:defRPr sz="2400" b="1">
                <a:solidFill>
                  <a:srgbClr val="172B3A"/>
                </a:solidFill>
                <a:latin typeface="Arial"/>
                <a:ea typeface="Arial"/>
                <a:cs typeface="Arial"/>
              </a:defRPr>
            </a:pPr>
            <a:r>
              <a:rPr sz="2400" b="1">
                <a:solidFill>
                  <a:srgbClr val="172B3A"/>
                </a:solidFill>
                <a:latin typeface="Arial"/>
                <a:ea typeface="Arial"/>
                <a:cs typeface="Arial"/>
              </a:rPr>
              <a:t>For a supplier research team</a:t>
            </a:r>
          </a:p>
        </p:txBody>
      </p:sp>
      <p:sp>
        <p:nvSpPr>
          <p:cNvPr id="4" name="">
            <a:extLst xmlns:a="http://schemas.openxmlformats.org/drawingml/2006/main">
              <a:ext uri="{FF2B5EF4-FFF2-40B4-BE49-F238E27FC236}">
                <a16:creationId xmlns:a16="http://schemas.microsoft.com/office/drawing/2014/main" id="{941B15D1-43BA-4E5C-B685-7A9344A202D2}"/>
              </a:ext>
            </a:extLst>
          </p:cNvPr>
          <p:cNvSpPr>
            <a:spLocks xmlns:a="http://schemas.openxmlformats.org/drawingml/2006/main" noGrp="1"/>
          </p:cNvSpPr>
          <p:nvPr/>
        </p:nvSpPr>
        <p:spPr>
          <a:xfrm xmlns:a="http://schemas.openxmlformats.org/drawingml/2006/main">
            <a:off x="3857625" y="2581275"/>
            <a:ext cx="7715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37682"/>
                </a:solidFill>
                <a:latin typeface="Arial"/>
                <a:ea typeface="Arial"/>
                <a:cs typeface="Arial"/>
              </a:defRPr>
            </a:defPPr>
          </a:lstStyle>
          <a:p xmlns:a="http://schemas.openxmlformats.org/drawingml/2006/main">
            <a:pPr>
              <a:defRPr sz="2100" b="0">
                <a:solidFill>
                  <a:srgbClr val="637682"/>
                </a:solidFill>
                <a:latin typeface="Arial"/>
                <a:ea typeface="Arial"/>
                <a:cs typeface="Arial"/>
              </a:defRPr>
            </a:pPr>
            <a:r>
              <a:rPr sz="2100" b="0">
                <a:solidFill>
                  <a:srgbClr val="637682"/>
                </a:solidFill>
                <a:latin typeface="Arial"/>
                <a:ea typeface="Arial"/>
                <a:cs typeface="Arial"/>
              </a:rPr>
              <a:t>A researcher can inspect the legal identity, source history and unresolved candidates in one place before making a supplier decision.</a:t>
            </a:r>
          </a:p>
        </p:txBody>
      </p:sp>
      <p:sp>
        <p:nvSpPr>
          <p:cNvPr id="5" name="">
            <a:extLst xmlns:a="http://schemas.openxmlformats.org/drawingml/2006/main">
              <a:ext uri="{FF2B5EF4-FFF2-40B4-BE49-F238E27FC236}">
                <a16:creationId xmlns:a16="http://schemas.microsoft.com/office/drawing/2014/main" id="{F0807DAB-496E-4EFB-A621-522570444695}"/>
              </a:ext>
            </a:extLst>
          </p:cNvPr>
          <p:cNvSpPr>
            <a:spLocks xmlns:a="http://schemas.openxmlformats.org/drawingml/2006/main" noGrp="1"/>
          </p:cNvSpPr>
          <p:nvPr/>
        </p:nvSpPr>
        <p:spPr>
          <a:xfrm xmlns:a="http://schemas.openxmlformats.org/drawingml/2006/main">
            <a:off x="3857625" y="434340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E766A"/>
                </a:solidFill>
                <a:latin typeface="Arial"/>
                <a:ea typeface="Arial"/>
                <a:cs typeface="Arial"/>
              </a:defRPr>
            </a:defPPr>
          </a:lstStyle>
          <a:p xmlns:a="http://schemas.openxmlformats.org/drawingml/2006/main">
            <a:pPr>
              <a:defRPr sz="2175" b="1">
                <a:solidFill>
                  <a:srgbClr val="0E766A"/>
                </a:solidFill>
                <a:latin typeface="Arial"/>
                <a:ea typeface="Arial"/>
                <a:cs typeface="Arial"/>
              </a:defRPr>
            </a:pPr>
            <a:r>
              <a:rPr sz="2175" b="1">
                <a:solidFill>
                  <a:srgbClr val="0E766A"/>
                </a:solidFill>
                <a:latin typeface="Arial"/>
                <a:ea typeface="Arial"/>
                <a:cs typeface="Arial"/>
              </a:rPr>
              <a:t>Proposed evaluation</a:t>
            </a:r>
          </a:p>
        </p:txBody>
      </p:sp>
      <p:sp>
        <p:nvSpPr>
          <p:cNvPr id="6" name="">
            <a:extLst xmlns:a="http://schemas.openxmlformats.org/drawingml/2006/main">
              <a:ext uri="{FF2B5EF4-FFF2-40B4-BE49-F238E27FC236}">
                <a16:creationId xmlns:a16="http://schemas.microsoft.com/office/drawing/2014/main" id="{BCB8722E-8809-4017-B65E-B0CD9F3FB128}"/>
              </a:ext>
            </a:extLst>
          </p:cNvPr>
          <p:cNvSpPr>
            <a:spLocks xmlns:a="http://schemas.openxmlformats.org/drawingml/2006/main" noGrp="1"/>
          </p:cNvSpPr>
          <p:nvPr/>
        </p:nvSpPr>
        <p:spPr>
          <a:xfrm xmlns:a="http://schemas.openxmlformats.org/drawingml/2006/main">
            <a:off x="3857625" y="5057775"/>
            <a:ext cx="7715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37682"/>
                </a:solidFill>
                <a:latin typeface="Arial"/>
                <a:ea typeface="Arial"/>
                <a:cs typeface="Arial"/>
              </a:defRPr>
            </a:defPPr>
          </a:lstStyle>
          <a:p xmlns:a="http://schemas.openxmlformats.org/drawingml/2006/main">
            <a:pPr>
              <a:defRPr sz="1875" b="0">
                <a:solidFill>
                  <a:srgbClr val="637682"/>
                </a:solidFill>
                <a:latin typeface="Arial"/>
                <a:ea typeface="Arial"/>
                <a:cs typeface="Arial"/>
              </a:defRPr>
            </a:pPr>
            <a:r>
              <a:rPr sz="1875" b="0">
                <a:solidFill>
                  <a:srgbClr val="637682"/>
                </a:solidFill>
                <a:latin typeface="Arial"/>
                <a:ea typeface="Arial"/>
                <a:cs typeface="Arial"/>
              </a:rPr>
              <a:t>Compare manual research with Fjord on unfamiliar companies. Measure checking time, wrong-company publications and valid evidence coverage.</a:t>
            </a:r>
          </a:p>
        </p:txBody>
      </p:sp>
    </p:spTree>
    <p:extLst>
      <p:ext uri="{BB962C8B-B14F-4D97-AF65-F5344CB8AC3E}">
        <p14:creationId xmlns:p14="http://schemas.microsoft.com/office/powerpoint/2010/main" val="226352723"/>
      </p:ext>
    </p:extLst>
  </p:cSld>
</p:sld>
</file>

<file path=ppt/slides/slide10.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3F5039-26EE-4DA7-84E2-F5C75F46374B}"/>
              </a:ext>
            </a:extLst>
          </p:cNvPr>
          <p:cNvSpPr>
            <a:spLocks xmlns:a="http://schemas.openxmlformats.org/drawingml/2006/main" noGrp="1"/>
          </p:cNvSpPr>
          <p:nvPr/>
        </p:nvSpPr>
        <p:spPr>
          <a:xfrm xmlns:a="http://schemas.openxmlformats.org/drawingml/2006/main">
            <a:off x="609600" y="5143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B3A"/>
                </a:solidFill>
                <a:latin typeface="Arial"/>
                <a:ea typeface="Arial"/>
                <a:cs typeface="Arial"/>
              </a:defRPr>
            </a:defPPr>
          </a:lstStyle>
          <a:p xmlns:a="http://schemas.openxmlformats.org/drawingml/2006/main">
            <a:pPr>
              <a:defRPr sz="3300" b="1">
                <a:solidFill>
                  <a:srgbClr val="172B3A"/>
                </a:solidFill>
                <a:latin typeface="Arial"/>
                <a:ea typeface="Arial"/>
                <a:cs typeface="Arial"/>
              </a:defRPr>
            </a:pPr>
            <a:r>
              <a:rPr sz="3300" b="1">
                <a:solidFill>
                  <a:srgbClr val="172B3A"/>
                </a:solidFill>
                <a:latin typeface="Arial"/>
                <a:ea typeface="Arial"/>
                <a:cs typeface="Arial"/>
              </a:rPr>
              <a:t>Screening prototype and next build</a:t>
            </a:r>
          </a:p>
        </p:txBody>
      </p:sp>
      <p:sp>
        <p:nvSpPr>
          <p:cNvPr id="2" name="">
            <a:extLst xmlns:a="http://schemas.openxmlformats.org/drawingml/2006/main">
              <a:ext uri="{FF2B5EF4-FFF2-40B4-BE49-F238E27FC236}">
                <a16:creationId xmlns:a16="http://schemas.microsoft.com/office/drawing/2014/main" id="{1FC7809D-72DA-4D6B-B9E6-5F158FE46329}"/>
              </a:ext>
            </a:extLst>
          </p:cNvPr>
          <p:cNvSpPr>
            <a:spLocks xmlns:a="http://schemas.openxmlformats.org/drawingml/2006/main" noGrp="1"/>
          </p:cNvSpPr>
          <p:nvPr/>
        </p:nvSpPr>
        <p:spPr>
          <a:xfrm xmlns:a="http://schemas.openxmlformats.org/drawingml/2006/main">
            <a:off x="609600" y="18478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B3A"/>
                </a:solidFill>
                <a:latin typeface="Arial"/>
                <a:ea typeface="Arial"/>
                <a:cs typeface="Arial"/>
              </a:defRPr>
            </a:defPPr>
          </a:lstStyle>
          <a:p xmlns:a="http://schemas.openxmlformats.org/drawingml/2006/main">
            <a:pPr>
              <a:defRPr sz="2175" b="1">
                <a:solidFill>
                  <a:srgbClr val="172B3A"/>
                </a:solidFill>
                <a:latin typeface="Arial"/>
                <a:ea typeface="Arial"/>
                <a:cs typeface="Arial"/>
              </a:defRPr>
            </a:pPr>
            <a:r>
              <a:rPr sz="2175" b="1">
                <a:solidFill>
                  <a:srgbClr val="172B3A"/>
                </a:solidFill>
                <a:latin typeface="Arial"/>
                <a:ea typeface="Arial"/>
                <a:cs typeface="Arial"/>
              </a:rPr>
              <a:t>Implemented</a:t>
            </a:r>
          </a:p>
        </p:txBody>
      </p:sp>
      <p:sp>
        <p:nvSpPr>
          <p:cNvPr id="3" name="">
            <a:extLst xmlns:a="http://schemas.openxmlformats.org/drawingml/2006/main">
              <a:ext uri="{FF2B5EF4-FFF2-40B4-BE49-F238E27FC236}">
                <a16:creationId xmlns:a16="http://schemas.microsoft.com/office/drawing/2014/main" id="{C15C9B7D-5B4D-415E-BEF6-D39AF220A3E3}"/>
              </a:ext>
            </a:extLst>
          </p:cNvPr>
          <p:cNvSpPr>
            <a:spLocks xmlns:a="http://schemas.openxmlformats.org/drawingml/2006/main" noGrp="1"/>
          </p:cNvSpPr>
          <p:nvPr/>
        </p:nvSpPr>
        <p:spPr>
          <a:xfrm xmlns:a="http://schemas.openxmlformats.org/drawingml/2006/main">
            <a:off x="609600" y="2609850"/>
            <a:ext cx="4953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Registry research and financial history</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Claim inspection and refresh comparison</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Functional TinyFish Search and Fetch</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Licensed evidence and review queue</a:t>
            </a:r>
          </a:p>
        </p:txBody>
      </p:sp>
      <p:sp>
        <p:nvSpPr>
          <p:cNvPr id="4" name="">
            <a:extLst xmlns:a="http://schemas.openxmlformats.org/drawingml/2006/main">
              <a:ext uri="{FF2B5EF4-FFF2-40B4-BE49-F238E27FC236}">
                <a16:creationId xmlns:a16="http://schemas.microsoft.com/office/drawing/2014/main" id="{940D7768-FD22-4FB6-8B6E-5B5A78984A42}"/>
              </a:ext>
            </a:extLst>
          </p:cNvPr>
          <p:cNvSpPr>
            <a:spLocks xmlns:a="http://schemas.openxmlformats.org/drawingml/2006/main" noGrp="1"/>
          </p:cNvSpPr>
          <p:nvPr/>
        </p:nvSpPr>
        <p:spPr>
          <a:xfrm xmlns:a="http://schemas.openxmlformats.org/drawingml/2006/main">
            <a:off x="6629400" y="18478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B3A"/>
                </a:solidFill>
                <a:latin typeface="Arial"/>
                <a:ea typeface="Arial"/>
                <a:cs typeface="Arial"/>
              </a:defRPr>
            </a:defPPr>
          </a:lstStyle>
          <a:p xmlns:a="http://schemas.openxmlformats.org/drawingml/2006/main">
            <a:pPr>
              <a:defRPr sz="2175" b="1">
                <a:solidFill>
                  <a:srgbClr val="172B3A"/>
                </a:solidFill>
                <a:latin typeface="Arial"/>
                <a:ea typeface="Arial"/>
                <a:cs typeface="Arial"/>
              </a:defRPr>
            </a:pPr>
            <a:r>
              <a:rPr sz="2175" b="1">
                <a:solidFill>
                  <a:srgbClr val="172B3A"/>
                </a:solidFill>
                <a:latin typeface="Arial"/>
                <a:ea typeface="Arial"/>
                <a:cs typeface="Arial"/>
              </a:rPr>
              <a:t>Next after screening</a:t>
            </a:r>
          </a:p>
        </p:txBody>
      </p:sp>
      <p:sp>
        <p:nvSpPr>
          <p:cNvPr id="5" name="">
            <a:extLst xmlns:a="http://schemas.openxmlformats.org/drawingml/2006/main">
              <a:ext uri="{FF2B5EF4-FFF2-40B4-BE49-F238E27FC236}">
                <a16:creationId xmlns:a16="http://schemas.microsoft.com/office/drawing/2014/main" id="{61C636B8-9D8C-44C6-9D02-EE57FEF80FAC}"/>
              </a:ext>
            </a:extLst>
          </p:cNvPr>
          <p:cNvSpPr>
            <a:spLocks xmlns:a="http://schemas.openxmlformats.org/drawingml/2006/main" noGrp="1"/>
          </p:cNvSpPr>
          <p:nvPr/>
        </p:nvSpPr>
        <p:spPr>
          <a:xfrm xmlns:a="http://schemas.openxmlformats.org/drawingml/2006/main">
            <a:off x="6629400" y="2609850"/>
            <a:ext cx="4953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37682"/>
                </a:solidFill>
                <a:latin typeface="Arial"/>
                <a:ea typeface="Arial"/>
                <a:cs typeface="Arial"/>
              </a:defRPr>
            </a:defPPr>
          </a:lstStyle>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Test more ambiguous identities</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Review additional source permissions</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Measure researcher task performance</a:t>
            </a:r>
          </a:p>
          <a:p xmlns:a="http://schemas.openxmlformats.org/drawingml/2006/main">
            <a:pPr>
              <a:defRPr sz="2025" b="0">
                <a:solidFill>
                  <a:srgbClr val="637682"/>
                </a:solidFill>
                <a:latin typeface="Arial"/>
                <a:ea typeface="Arial"/>
                <a:cs typeface="Arial"/>
              </a:defRPr>
            </a:pPr>
            <a:r>
              <a:rPr sz="2025" b="0">
                <a:solidFill>
                  <a:srgbClr val="637682"/>
                </a:solidFill>
                <a:latin typeface="Arial"/>
                <a:ea typeface="Arial"/>
                <a:cs typeface="Arial"/>
              </a:rPr>
              <a:t>Secure hosted research backend</a:t>
            </a:r>
          </a:p>
        </p:txBody>
      </p:sp>
      <p:sp>
        <p:nvSpPr>
          <p:cNvPr id="6" name="">
            <a:extLst xmlns:a="http://schemas.openxmlformats.org/drawingml/2006/main">
              <a:ext uri="{FF2B5EF4-FFF2-40B4-BE49-F238E27FC236}">
                <a16:creationId xmlns:a16="http://schemas.microsoft.com/office/drawing/2014/main" id="{F7608599-F162-4CCE-9688-9A23A4FFB8C5}"/>
              </a:ext>
            </a:extLst>
          </p:cNvPr>
          <p:cNvSpPr>
            <a:spLocks xmlns:a="http://schemas.openxmlformats.org/drawingml/2006/main" noGrp="1"/>
          </p:cNvSpPr>
          <p:nvPr/>
        </p:nvSpPr>
        <p:spPr>
          <a:xfrm xmlns:a="http://schemas.openxmlformats.org/drawingml/2006/main">
            <a:off x="609600" y="53435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E766A"/>
                </a:solidFill>
                <a:latin typeface="Arial"/>
                <a:ea typeface="Arial"/>
                <a:cs typeface="Arial"/>
              </a:defRPr>
            </a:defPPr>
          </a:lstStyle>
          <a:p xmlns:a="http://schemas.openxmlformats.org/drawingml/2006/main">
            <a:pPr>
              <a:defRPr sz="2400" b="1">
                <a:solidFill>
                  <a:srgbClr val="0E766A"/>
                </a:solidFill>
                <a:latin typeface="Arial"/>
                <a:ea typeface="Arial"/>
                <a:cs typeface="Arial"/>
              </a:defRPr>
            </a:pPr>
            <a:r>
              <a:rPr sz="2400" b="1">
                <a:solidFill>
                  <a:srgbClr val="0E766A"/>
                </a:solidFill>
                <a:latin typeface="Arial"/>
                <a:ea typeface="Arial"/>
                <a:cs typeface="Arial"/>
              </a:rPr>
              <a:t>github.com/nqtexd/fjord-signalpost</a:t>
            </a:r>
          </a:p>
        </p:txBody>
      </p:sp>
      <p:sp>
        <p:nvSpPr>
          <p:cNvPr id="7" name="">
            <a:extLst xmlns:a="http://schemas.openxmlformats.org/drawingml/2006/main">
              <a:ext uri="{FF2B5EF4-FFF2-40B4-BE49-F238E27FC236}">
                <a16:creationId xmlns:a16="http://schemas.microsoft.com/office/drawing/2014/main" id="{B0F8665D-0C2C-468B-B742-9AC729418403}"/>
              </a:ext>
            </a:extLst>
          </p:cNvPr>
          <p:cNvSpPr>
            <a:spLocks xmlns:a="http://schemas.openxmlformats.org/drawingml/2006/main" noGrp="1"/>
          </p:cNvSpPr>
          <p:nvPr/>
        </p:nvSpPr>
        <p:spPr>
          <a:xfrm xmlns:a="http://schemas.openxmlformats.org/drawingml/2006/main">
            <a:off x="609600" y="59626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7682"/>
                </a:solidFill>
                <a:latin typeface="Arial"/>
                <a:ea typeface="Arial"/>
                <a:cs typeface="Arial"/>
              </a:defRPr>
            </a:defPPr>
          </a:lstStyle>
          <a:p xmlns:a="http://schemas.openxmlformats.org/drawingml/2006/main">
            <a:pPr>
              <a:defRPr sz="1575" b="0">
                <a:solidFill>
                  <a:srgbClr val="637682"/>
                </a:solidFill>
                <a:latin typeface="Arial"/>
                <a:ea typeface="Arial"/>
                <a:cs typeface="Arial"/>
              </a:defRPr>
            </a:pPr>
            <a:r>
              <a:rPr sz="1575" b="0">
                <a:solidFill>
                  <a:srgbClr val="637682"/>
                </a:solidFill>
                <a:latin typeface="Arial"/>
                <a:ea typeface="Arial"/>
                <a:cs typeface="Arial"/>
              </a:rPr>
              <a:t>Sanjay P, solo. Code MIT. Registry data NLOD 2.0. Wikidata structured facts CC0.</a:t>
            </a:r>
          </a:p>
        </p:txBody>
      </p:sp>
    </p:spTree>
    <p:extLst>
      <p:ext uri="{BB962C8B-B14F-4D97-AF65-F5344CB8AC3E}">
        <p14:creationId xmlns:p14="http://schemas.microsoft.com/office/powerpoint/2010/main" val="2090055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2026-10-16T15:45:34.5070000Z</dcterms:created>
  <dcterms:modified xsi:type="dcterms:W3CDTF">2026-10-16T15:45:34.5070000Z</dcterms:modified>
</coreProperties>
</file>